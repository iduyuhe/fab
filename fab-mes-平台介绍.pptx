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2" r:id="rId22"/>
    <p:sldId id="274" r:id="rId101"/>
    <p:sldId id="267" r:id="rId12"/>
    <p:sldId id="268" r:id="rId13"/>
    <p:sldId id="269" r:id="rId14"/>
    <p:sldId id="270" r:id="rId15"/>
    <p:sldId id="273" r:id="rId10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tableStyles" Target="tableStyles.xml"/><Relationship Id="rId20" Type="http://schemas.openxmlformats.org/officeDocument/2006/relationships/viewProps" Target="viewProps.xml"/><Relationship Id="rId22" Type="http://schemas.openxmlformats.org/officeDocument/2006/relationships/slide" Target="slides/slide12.xml"/><Relationship Id="rId100" Type="http://schemas.openxmlformats.org/officeDocument/2006/relationships/slide" Target="slides/slide17.xml"/><Relationship Id="rId101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0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0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0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0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0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0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0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0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0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0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0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0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0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0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0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.xml"/><Relationship Id="rId2" Type="http://schemas.openxmlformats.org/officeDocument/2006/relationships/image" Target="media/image1.png"/></Relationships>
</file>

<file path=ppt/slides/_rels/slide2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9.xml"/><Relationship Id="rId2" Type="http://schemas.openxmlformats.org/officeDocument/2006/relationships/image" Target="media/image24.png"/><Relationship Id="rId3" Type="http://schemas.openxmlformats.org/officeDocument/2006/relationships/image" Target="media/image25.png"/><Relationship Id="rId4" Type="http://schemas.openxmlformats.org/officeDocument/2006/relationships/image" Target="media/image26.png"/><Relationship Id="rId5" Type="http://schemas.openxmlformats.org/officeDocument/2006/relationships/image" Target="media/image27.png"/></Relationships>
</file>

<file path=ppt/slides/_rels/slide3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0.xml"/><Relationship Id="rId2" Type="http://schemas.openxmlformats.org/officeDocument/2006/relationships/image" Target="media/image28.png"/><Relationship Id="rId3" Type="http://schemas.openxmlformats.org/officeDocument/2006/relationships/image" Target="media/image29.png"/><Relationship Id="rId4" Type="http://schemas.openxmlformats.org/officeDocument/2006/relationships/image" Target="media/image30.png"/></Relationships>
</file>

<file path=ppt/slides/_rels/slide4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1.xml"/><Relationship Id="rId2" Type="http://schemas.openxmlformats.org/officeDocument/2006/relationships/image" Target="media/image31.png"/><Relationship Id="rId3" Type="http://schemas.openxmlformats.org/officeDocument/2006/relationships/image" Target="media/image32.png"/><Relationship Id="rId4" Type="http://schemas.openxmlformats.org/officeDocument/2006/relationships/image" Target="media/image33.png"/><Relationship Id="rId5" Type="http://schemas.openxmlformats.org/officeDocument/2006/relationships/image" Target="media/image34.png"/><Relationship Id="rId6" Type="http://schemas.openxmlformats.org/officeDocument/2006/relationships/image" Target="media/image35.png"/></Relationships>
</file>

<file path=ppt/slides/_rels/slide5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2.xml"/></Relationships>
</file>

<file path=ppt/slides/_rels/slide6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3.xml"/><Relationship Id="rId2" Type="http://schemas.openxmlformats.org/officeDocument/2006/relationships/image" Target="media/image36.png"/><Relationship Id="rId3" Type="http://schemas.openxmlformats.org/officeDocument/2006/relationships/image" Target="media/image37.png"/><Relationship Id="rId4" Type="http://schemas.openxmlformats.org/officeDocument/2006/relationships/image" Target="media/image38.png"/></Relationships>
</file>

<file path=ppt/slides/_rels/slide7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4.xml"/><Relationship Id="rId2" Type="http://schemas.openxmlformats.org/officeDocument/2006/relationships/image" Target="media/image39.png"/><Relationship Id="rId3" Type="http://schemas.openxmlformats.org/officeDocument/2006/relationships/image" Target="media/image40.png"/><Relationship Id="rId4" Type="http://schemas.openxmlformats.org/officeDocument/2006/relationships/image" Target="media/image41.png"/><Relationship Id="rId5" Type="http://schemas.openxmlformats.org/officeDocument/2006/relationships/image" Target="media/image42.png"/><Relationship Id="rId6" Type="http://schemas.openxmlformats.org/officeDocument/2006/relationships/image" Target="media/image43.png"/><Relationship Id="rId7" Type="http://schemas.openxmlformats.org/officeDocument/2006/relationships/image" Target="media/image44.png"/></Relationships>
</file>

<file path=ppt/slides/_rels/slide8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5.xml"/><Relationship Id="rId2" Type="http://schemas.openxmlformats.org/officeDocument/2006/relationships/image" Target="media/image45.png"/><Relationship Id="rId3" Type="http://schemas.openxmlformats.org/officeDocument/2006/relationships/image" Target="media/image46.png"/><Relationship Id="rId4" Type="http://schemas.openxmlformats.org/officeDocument/2006/relationships/image" Target="media/image47.png"/><Relationship Id="rId5" Type="http://schemas.openxmlformats.org/officeDocument/2006/relationships/image" Target="media/image48.png"/><Relationship Id="rId6" Type="http://schemas.openxmlformats.org/officeDocument/2006/relationships/image" Target="media/image49.png"/><Relationship Id="rId7" Type="http://schemas.openxmlformats.org/officeDocument/2006/relationships/image" Target="media/image50.png"/></Relationships>
</file>

<file path=ppt/slides/_rels/slide9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6.xml"/><Relationship Id="rId2" Type="http://schemas.openxmlformats.org/officeDocument/2006/relationships/image" Target="media/image51.png"/><Relationship Id="rId3" Type="http://schemas.openxmlformats.org/officeDocument/2006/relationships/image" Target="media/image52.png"/><Relationship Id="rId4" Type="http://schemas.openxmlformats.org/officeDocument/2006/relationships/image" Target="media/image53.png"/></Relationships>
</file>

<file path=ppt/slides/_rels/slide10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2.xml"/><Relationship Id="rId2" Type="http://schemas.openxmlformats.org/officeDocument/2006/relationships/image" Target="media/image2.png"/><Relationship Id="rId3" Type="http://schemas.openxmlformats.org/officeDocument/2006/relationships/image" Target="media/image3.png"/><Relationship Id="rId4" Type="http://schemas.openxmlformats.org/officeDocument/2006/relationships/image" Target="media/image4.png"/><Relationship Id="rId5" Type="http://schemas.openxmlformats.org/officeDocument/2006/relationships/image" Target="media/image5.png"/></Relationships>
</file>

<file path=ppt/slides/_rels/slide11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3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4.xml"/><Relationship Id="rId2" Type="http://schemas.openxmlformats.org/officeDocument/2006/relationships/image" Target="media/image6.png"/><Relationship Id="rId3" Type="http://schemas.openxmlformats.org/officeDocument/2006/relationships/image" Target="media/image7.png"/><Relationship Id="rId4" Type="http://schemas.openxmlformats.org/officeDocument/2006/relationships/image" Target="media/image8.png"/><Relationship Id="rId5" Type="http://schemas.openxmlformats.org/officeDocument/2006/relationships/image" Target="media/image9.png"/></Relationships>
</file>

<file path=ppt/slides/_rels/slide14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5.xml"/><Relationship Id="rId2" Type="http://schemas.openxmlformats.org/officeDocument/2006/relationships/image" Target="media/image10.png"/><Relationship Id="rId3" Type="http://schemas.openxmlformats.org/officeDocument/2006/relationships/image" Target="media/image11.png"/><Relationship Id="rId4" Type="http://schemas.openxmlformats.org/officeDocument/2006/relationships/image" Target="media/image12.png"/><Relationship Id="rId5" Type="http://schemas.openxmlformats.org/officeDocument/2006/relationships/image" Target="media/image13.png"/></Relationships>
</file>

<file path=ppt/slides/_rels/slide15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6.xml"/><Relationship Id="rId2" Type="http://schemas.openxmlformats.org/officeDocument/2006/relationships/image" Target="media/image14.png"/><Relationship Id="rId3" Type="http://schemas.openxmlformats.org/officeDocument/2006/relationships/image" Target="media/image15.png"/><Relationship Id="rId4" Type="http://schemas.openxmlformats.org/officeDocument/2006/relationships/image" Target="media/image16.png"/><Relationship Id="rId5" Type="http://schemas.openxmlformats.org/officeDocument/2006/relationships/image" Target="media/image17.png"/><Relationship Id="rId6" Type="http://schemas.openxmlformats.org/officeDocument/2006/relationships/image" Target="media/image18.png"/><Relationship Id="rId7" Type="http://schemas.openxmlformats.org/officeDocument/2006/relationships/image" Target="media/image19.png"/></Relationships>
</file>

<file path=ppt/slides/_rels/slide16.xml.rels><?xml version="1.0" encoding="UTF-8"?>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7.xml"/><Relationship Id="rId2" Type="http://schemas.openxmlformats.org/officeDocument/2006/relationships/image" Target="media/image20.png"/><Relationship Id="rId3" Type="http://schemas.openxmlformats.org/officeDocument/2006/relationships/image" Target="media/image21.png"/><Relationship Id="rId4" Type="http://schemas.openxmlformats.org/officeDocument/2006/relationships/image" Target="media/image22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417320"/>
            <a:ext cx="1371600" cy="1371600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17739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3383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AI-Native Smart Manufacturing Platform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AI 芯片制造的四级演进智能平台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社区级 → 教学级 → 专业级 → 工厂级  |  以 AI Agent 为核心驱动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战略介绍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2">
    <p:bg>
      <p:bgPr>
        <a:solidFill>
          <a:srgbClr val="F4F7FB"/>
        </a:solidFill>
      </p:bgPr>
    </p:bg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 · 战略背景</a:t>
            </a:r>
            <a:endParaRPr lang="en-US" sz="1300" dirty="0"/>
          </a:p>
        </p:txBody>
      </p:sp>
      <p:sp>
        <p:nvSpPr>
          <p:cNvPr id="20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为什么是现在：晶圆制造的四重挑战</a:t>
            </a:r>
            <a:endParaRPr lang="en-US" sz="3000" dirty="0"/>
          </a:p>
        </p:txBody>
      </p:sp>
      <p:sp>
        <p:nvSpPr>
          <p:cNvPr id="204" name="Shape 2"/>
          <p:cNvSpPr/>
          <p:nvPr/>
        </p:nvSpPr>
        <p:spPr>
          <a:xfrm>
            <a:off x="640080" y="169164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88900" dist="25400" dir="8100000" sx="100000" sy="100000" kx="0" ky="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5" name="Shape 3"/>
          <p:cNvSpPr/>
          <p:nvPr/>
        </p:nvSpPr>
        <p:spPr>
          <a:xfrm>
            <a:off x="640080" y="1691640"/>
            <a:ext cx="91440" cy="1783080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206" name="Shape 4"/>
          <p:cNvSpPr/>
          <p:nvPr/>
        </p:nvSpPr>
        <p:spPr>
          <a:xfrm>
            <a:off x="960120" y="2057400"/>
            <a:ext cx="914400" cy="91440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0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2295144"/>
            <a:ext cx="438912" cy="438912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205740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芯片需求爆发</a:t>
            </a:r>
            <a:endParaRPr lang="en-US" sz="1700" dirty="0"/>
          </a:p>
        </p:txBody>
      </p:sp>
      <p:sp>
        <p:nvSpPr>
          <p:cNvPr id="209" name="Text 6"/>
          <p:cNvSpPr/>
          <p:nvPr/>
        </p:nvSpPr>
        <p:spPr>
          <a:xfrm>
            <a:off x="2057400" y="2468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先进制程（2nm/3nm）产能吃紧，良率与交付成为核心竞争力。</a:t>
            </a:r>
            <a:endParaRPr lang="en-US" sz="1300" dirty="0"/>
          </a:p>
        </p:txBody>
      </p:sp>
      <p:sp>
        <p:nvSpPr>
          <p:cNvPr id="210" name="Shape 7"/>
          <p:cNvSpPr/>
          <p:nvPr/>
        </p:nvSpPr>
        <p:spPr>
          <a:xfrm>
            <a:off x="6492240" y="169164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88900" dist="25400" dir="8100000" sx="100000" sy="100000" kx="0" ky="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1" name="Shape 8"/>
          <p:cNvSpPr/>
          <p:nvPr/>
        </p:nvSpPr>
        <p:spPr>
          <a:xfrm>
            <a:off x="6492240" y="1691640"/>
            <a:ext cx="91440" cy="1783080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212" name="Shape 9"/>
          <p:cNvSpPr/>
          <p:nvPr/>
        </p:nvSpPr>
        <p:spPr>
          <a:xfrm>
            <a:off x="6812280" y="2057400"/>
            <a:ext cx="914400" cy="91440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2295144"/>
            <a:ext cx="438912" cy="438912"/>
          </a:xfrm>
          <a:prstGeom prst="rect">
            <a:avLst/>
          </a:prstGeom>
        </p:spPr>
      </p:pic>
      <p:sp>
        <p:nvSpPr>
          <p:cNvPr id="214" name="Text 10"/>
          <p:cNvSpPr/>
          <p:nvPr/>
        </p:nvSpPr>
        <p:spPr>
          <a:xfrm>
            <a:off x="790956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数据孤岛严重</a:t>
            </a:r>
            <a:endParaRPr lang="en-US" sz="1700" dirty="0"/>
          </a:p>
        </p:txBody>
      </p:sp>
      <p:sp>
        <p:nvSpPr>
          <p:cNvPr id="215" name="Text 11"/>
          <p:cNvSpPr/>
          <p:nvPr/>
        </p:nvSpPr>
        <p:spPr>
          <a:xfrm>
            <a:off x="7909560" y="2468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EAP/MES/ERP/质量各自为政，事件流无法贯通，决策靠人工经验。</a:t>
            </a:r>
            <a:endParaRPr lang="en-US" sz="1300" dirty="0"/>
          </a:p>
        </p:txBody>
      </p:sp>
      <p:sp>
        <p:nvSpPr>
          <p:cNvPr id="216" name="Shape 12"/>
          <p:cNvSpPr/>
          <p:nvPr/>
        </p:nvSpPr>
        <p:spPr>
          <a:xfrm>
            <a:off x="640080" y="388620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88900" dist="25400" dir="8100000" sx="100000" sy="100000" kx="0" ky="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7" name="Shape 13"/>
          <p:cNvSpPr/>
          <p:nvPr/>
        </p:nvSpPr>
        <p:spPr>
          <a:xfrm>
            <a:off x="640080" y="3886200"/>
            <a:ext cx="91440" cy="1783080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218" name="Shape 14"/>
          <p:cNvSpPr/>
          <p:nvPr/>
        </p:nvSpPr>
        <p:spPr>
          <a:xfrm>
            <a:off x="960120" y="4251960"/>
            <a:ext cx="914400" cy="91440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4489704"/>
            <a:ext cx="438912" cy="438912"/>
          </a:xfrm>
          <a:prstGeom prst="rect">
            <a:avLst/>
          </a:prstGeom>
        </p:spPr>
      </p:pic>
      <p:sp>
        <p:nvSpPr>
          <p:cNvPr id="220" name="Text 15"/>
          <p:cNvSpPr/>
          <p:nvPr/>
        </p:nvSpPr>
        <p:spPr>
          <a:xfrm>
            <a:off x="205740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合规门槛高</a:t>
            </a:r>
            <a:endParaRPr lang="en-US" sz="1700" dirty="0"/>
          </a:p>
        </p:txBody>
      </p:sp>
      <p:sp>
        <p:nvSpPr>
          <p:cNvPr id="221" name="Text 16"/>
          <p:cNvSpPr/>
          <p:nvPr/>
        </p:nvSpPr>
        <p:spPr>
          <a:xfrm>
            <a:off x="2057400" y="4663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 E10/E30/E87 等标准强制，审计与数据驻留是工厂级硬性要求。</a:t>
            </a:r>
            <a:endParaRPr lang="en-US" sz="1300" dirty="0"/>
          </a:p>
        </p:txBody>
      </p:sp>
      <p:sp>
        <p:nvSpPr>
          <p:cNvPr id="222" name="Shape 17"/>
          <p:cNvSpPr/>
          <p:nvPr/>
        </p:nvSpPr>
        <p:spPr>
          <a:xfrm>
            <a:off x="6492240" y="388620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88900" dist="25400" dir="8100000" sx="100000" sy="100000" kx="0" ky="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3" name="Shape 18"/>
          <p:cNvSpPr/>
          <p:nvPr/>
        </p:nvSpPr>
        <p:spPr>
          <a:xfrm>
            <a:off x="6492240" y="3886200"/>
            <a:ext cx="91440" cy="1783080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224" name="Shape 19"/>
          <p:cNvSpPr/>
          <p:nvPr/>
        </p:nvSpPr>
        <p:spPr>
          <a:xfrm>
            <a:off x="6812280" y="4251960"/>
            <a:ext cx="914400" cy="91440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4" y="4489704"/>
            <a:ext cx="438912" cy="438912"/>
          </a:xfrm>
          <a:prstGeom prst="rect">
            <a:avLst/>
          </a:prstGeom>
        </p:spPr>
      </p:pic>
      <p:sp>
        <p:nvSpPr>
          <p:cNvPr id="226" name="Text 20"/>
          <p:cNvSpPr/>
          <p:nvPr/>
        </p:nvSpPr>
        <p:spPr>
          <a:xfrm>
            <a:off x="790956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落地难</a:t>
            </a:r>
            <a:endParaRPr lang="en-US" sz="1700" dirty="0"/>
          </a:p>
        </p:txBody>
      </p:sp>
      <p:sp>
        <p:nvSpPr>
          <p:cNvPr id="227" name="Text 21"/>
          <p:cNvSpPr/>
          <p:nvPr/>
        </p:nvSpPr>
        <p:spPr>
          <a:xfrm>
            <a:off x="7909560" y="4663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大模型成本高、可解释性弱；一线需要的是可信、可控、能闭环的 Agent。</a:t>
            </a:r>
            <a:endParaRPr lang="en-US" sz="1300" dirty="0"/>
          </a:p>
        </p:txBody>
      </p:sp>
      <p:sp>
        <p:nvSpPr>
          <p:cNvPr id="228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229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3">
    <p:bg>
      <p:bgPr>
        <a:solidFill>
          <a:srgbClr val="0B1F3A"/>
        </a:solidFill>
      </p:bgPr>
    </p:bg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VISION · 产品定位</a:t>
            </a:r>
            <a:endParaRPr lang="en-US" sz="1300" dirty="0"/>
          </a:p>
        </p:txBody>
      </p:sp>
      <p:sp>
        <p:nvSpPr>
          <p:cNvPr id="232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 AI 芯片晶圆企业，打造面向新时代的智能企业</a:t>
            </a:r>
            <a:endParaRPr lang="en-US" sz="2800" dirty="0"/>
          </a:p>
        </p:txBody>
      </p:sp>
      <p:sp>
        <p:nvSpPr>
          <p:cNvPr id="233" name="Shape 2"/>
          <p:cNvSpPr/>
          <p:nvPr/>
        </p:nvSpPr>
        <p:spPr>
          <a:xfrm>
            <a:off x="640080" y="1920240"/>
            <a:ext cx="3520440" cy="3108960"/>
          </a:xfrm>
          <a:prstGeom prst="rect">
            <a:avLst/>
          </a:prstGeom>
          <a:solidFill>
            <a:srgbClr val="11294D"/>
          </a:solidFill>
          <a:ln w="1270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234" name="Shape 3"/>
          <p:cNvSpPr/>
          <p:nvPr/>
        </p:nvSpPr>
        <p:spPr>
          <a:xfrm>
            <a:off x="1897380" y="228600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23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898" y="2547518"/>
            <a:ext cx="482803" cy="482803"/>
          </a:xfrm>
          <a:prstGeom prst="rect">
            <a:avLst/>
          </a:prstGeom>
        </p:spPr>
      </p:pic>
      <p:sp>
        <p:nvSpPr>
          <p:cNvPr id="236" name="Text 4"/>
          <p:cNvSpPr/>
          <p:nvPr/>
        </p:nvSpPr>
        <p:spPr>
          <a:xfrm>
            <a:off x="868680" y="3474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同一底座 · 四级输出</a:t>
            </a:r>
            <a:endParaRPr lang="en-US" sz="1700" dirty="0"/>
          </a:p>
        </p:txBody>
      </p:sp>
      <p:sp>
        <p:nvSpPr>
          <p:cNvPr id="237" name="Text 5"/>
          <p:cNvSpPr/>
          <p:nvPr/>
        </p:nvSpPr>
        <p:spPr>
          <a:xfrm>
            <a:off x="914400" y="4023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社区级开源轻量 → 教学带教 → 专业工业可用 → 工厂真实部署，资产逐级复用。</a:t>
            </a:r>
            <a:endParaRPr lang="en-US" sz="1300" dirty="0"/>
          </a:p>
        </p:txBody>
      </p:sp>
      <p:sp>
        <p:nvSpPr>
          <p:cNvPr id="238" name="Shape 6"/>
          <p:cNvSpPr/>
          <p:nvPr/>
        </p:nvSpPr>
        <p:spPr>
          <a:xfrm>
            <a:off x="4526280" y="1920240"/>
            <a:ext cx="3520440" cy="3108960"/>
          </a:xfrm>
          <a:prstGeom prst="rect">
            <a:avLst/>
          </a:prstGeom>
          <a:solidFill>
            <a:srgbClr val="11294D"/>
          </a:solidFill>
          <a:ln w="1270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239" name="Shape 7"/>
          <p:cNvSpPr/>
          <p:nvPr/>
        </p:nvSpPr>
        <p:spPr>
          <a:xfrm>
            <a:off x="5783580" y="228600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24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098" y="2547518"/>
            <a:ext cx="482803" cy="482803"/>
          </a:xfrm>
          <a:prstGeom prst="rect">
            <a:avLst/>
          </a:prstGeom>
        </p:spPr>
      </p:pic>
      <p:sp>
        <p:nvSpPr>
          <p:cNvPr id="241" name="Text 8"/>
          <p:cNvSpPr/>
          <p:nvPr/>
        </p:nvSpPr>
        <p:spPr>
          <a:xfrm>
            <a:off x="4754880" y="3474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贯穿</a:t>
            </a:r>
            <a:endParaRPr lang="en-US" sz="1700" dirty="0"/>
          </a:p>
        </p:txBody>
      </p:sp>
      <p:sp>
        <p:nvSpPr>
          <p:cNvPr id="242" name="Text 9"/>
          <p:cNvSpPr/>
          <p:nvPr/>
        </p:nvSpPr>
        <p:spPr>
          <a:xfrm>
            <a:off x="4800600" y="4023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从对话助手到协作副驾再到自治闭环，Agent 能力随级别分层递进。</a:t>
            </a:r>
            <a:endParaRPr lang="en-US" sz="1300" dirty="0"/>
          </a:p>
        </p:txBody>
      </p:sp>
      <p:sp>
        <p:nvSpPr>
          <p:cNvPr id="243" name="Shape 10"/>
          <p:cNvSpPr/>
          <p:nvPr/>
        </p:nvSpPr>
        <p:spPr>
          <a:xfrm>
            <a:off x="8412480" y="1920240"/>
            <a:ext cx="3520440" cy="3108960"/>
          </a:xfrm>
          <a:prstGeom prst="rect">
            <a:avLst/>
          </a:prstGeom>
          <a:solidFill>
            <a:srgbClr val="11294D"/>
          </a:solidFill>
          <a:ln w="1270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244" name="Shape 11"/>
          <p:cNvSpPr/>
          <p:nvPr/>
        </p:nvSpPr>
        <p:spPr>
          <a:xfrm>
            <a:off x="9669780" y="228600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24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298" y="2547518"/>
            <a:ext cx="482803" cy="482803"/>
          </a:xfrm>
          <a:prstGeom prst="rect">
            <a:avLst/>
          </a:prstGeom>
        </p:spPr>
      </p:pic>
      <p:sp>
        <p:nvSpPr>
          <p:cNvPr id="246" name="Text 12"/>
          <p:cNvSpPr/>
          <p:nvPr/>
        </p:nvSpPr>
        <p:spPr>
          <a:xfrm>
            <a:off x="8641080" y="3474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可信可控优先</a:t>
            </a:r>
            <a:endParaRPr lang="en-US" sz="1700" dirty="0"/>
          </a:p>
        </p:txBody>
      </p:sp>
      <p:sp>
        <p:nvSpPr>
          <p:cNvPr id="247" name="Text 13"/>
          <p:cNvSpPr/>
          <p:nvPr/>
        </p:nvSpPr>
        <p:spPr>
          <a:xfrm>
            <a:off x="8686800" y="4023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 API 成本、规则+检索驱动；写操作须人审，安全铁律贯穿四级。</a:t>
            </a:r>
            <a:endParaRPr lang="en-US" sz="1300" dirty="0"/>
          </a:p>
        </p:txBody>
      </p:sp>
      <p:sp>
        <p:nvSpPr>
          <p:cNvPr id="248" name="Text 14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定位：不是一次性做工厂级，而是同一套底座分四级交付——让不同阶段的用户都能即刻上手、按需升级。</a:t>
            </a:r>
            <a:endParaRPr lang="en-US" sz="1400" dirty="0"/>
          </a:p>
        </p:txBody>
      </p:sp>
      <p:sp>
        <p:nvSpPr>
          <p:cNvPr id="249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250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4">
    <p:bg>
      <p:bgPr>
        <a:solidFill>
          <a:srgbClr val="F4F7FB"/>
        </a:solidFill>
      </p:bgPr>
    </p:bg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PANORAMA · 平台全景</a:t>
            </a:r>
            <a:endParaRPr lang="en-US" sz="1300" dirty="0"/>
          </a:p>
        </p:txBody>
      </p:sp>
      <p:sp>
        <p:nvSpPr>
          <p:cNvPr id="25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一套底座，四层能力</a:t>
            </a:r>
            <a:endParaRPr lang="en-US" sz="3000" dirty="0"/>
          </a:p>
        </p:txBody>
      </p:sp>
      <p:sp>
        <p:nvSpPr>
          <p:cNvPr id="254" name="Shape 2"/>
          <p:cNvSpPr/>
          <p:nvPr/>
        </p:nvSpPr>
        <p:spPr>
          <a:xfrm>
            <a:off x="640080" y="164592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5" name="Shape 3"/>
          <p:cNvSpPr/>
          <p:nvPr/>
        </p:nvSpPr>
        <p:spPr>
          <a:xfrm>
            <a:off x="640080" y="1645920"/>
            <a:ext cx="128016" cy="841248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256" name="Shape 4"/>
          <p:cNvSpPr/>
          <p:nvPr/>
        </p:nvSpPr>
        <p:spPr>
          <a:xfrm>
            <a:off x="1051560" y="1783080"/>
            <a:ext cx="566928" cy="5669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5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961" y="1930481"/>
            <a:ext cx="272125" cy="272125"/>
          </a:xfrm>
          <a:prstGeom prst="rect">
            <a:avLst/>
          </a:prstGeom>
        </p:spPr>
      </p:pic>
      <p:sp>
        <p:nvSpPr>
          <p:cNvPr id="258" name="Text 5"/>
          <p:cNvSpPr/>
          <p:nvPr/>
        </p:nvSpPr>
        <p:spPr>
          <a:xfrm>
            <a:off x="1828800" y="17556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L1–L4 应用外壳</a:t>
            </a:r>
            <a:endParaRPr lang="en-US" sz="1600" dirty="0"/>
          </a:p>
        </p:txBody>
      </p:sp>
      <p:sp>
        <p:nvSpPr>
          <p:cNvPr id="259" name="Text 6"/>
          <p:cNvSpPr/>
          <p:nvPr/>
        </p:nvSpPr>
        <p:spPr>
          <a:xfrm>
            <a:off x="5212080" y="175564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社区沙盘 · 教学实验台 · 专业副驾 · 工厂自治门户</a:t>
            </a:r>
            <a:endParaRPr lang="en-US" sz="1300" dirty="0"/>
          </a:p>
        </p:txBody>
      </p:sp>
      <p:sp>
        <p:nvSpPr>
          <p:cNvPr id="260" name="Shape 7"/>
          <p:cNvSpPr/>
          <p:nvPr/>
        </p:nvSpPr>
        <p:spPr>
          <a:xfrm>
            <a:off x="640080" y="2596896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1" name="Shape 8"/>
          <p:cNvSpPr/>
          <p:nvPr/>
        </p:nvSpPr>
        <p:spPr>
          <a:xfrm>
            <a:off x="640080" y="2596896"/>
            <a:ext cx="128016" cy="841248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p/>
        </p:txBody>
      </p:sp>
      <p:sp>
        <p:nvSpPr>
          <p:cNvPr id="262" name="Shape 9"/>
          <p:cNvSpPr/>
          <p:nvPr/>
        </p:nvSpPr>
        <p:spPr>
          <a:xfrm>
            <a:off x="1051560" y="2734056"/>
            <a:ext cx="566928" cy="5669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6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961" y="2881457"/>
            <a:ext cx="272125" cy="272125"/>
          </a:xfrm>
          <a:prstGeom prst="rect">
            <a:avLst/>
          </a:prstGeom>
        </p:spPr>
      </p:pic>
      <p:sp>
        <p:nvSpPr>
          <p:cNvPr id="264" name="Text 10"/>
          <p:cNvSpPr/>
          <p:nvPr/>
        </p:nvSpPr>
        <p:spPr>
          <a:xfrm>
            <a:off x="1828800" y="270662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三层</a:t>
            </a:r>
            <a:endParaRPr lang="en-US" sz="1600" dirty="0"/>
          </a:p>
        </p:txBody>
      </p:sp>
      <p:sp>
        <p:nvSpPr>
          <p:cNvPr id="265" name="Text 11"/>
          <p:cNvSpPr/>
          <p:nvPr/>
        </p:nvSpPr>
        <p:spPr>
          <a:xfrm>
            <a:off x="5212080" y="270662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战略层 · 领域层 · 执行层——从问答到自治闭环</a:t>
            </a:r>
            <a:endParaRPr lang="en-US" sz="1300" dirty="0"/>
          </a:p>
        </p:txBody>
      </p:sp>
      <p:sp>
        <p:nvSpPr>
          <p:cNvPr id="266" name="Shape 12"/>
          <p:cNvSpPr/>
          <p:nvPr/>
        </p:nvSpPr>
        <p:spPr>
          <a:xfrm>
            <a:off x="640080" y="3547872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7" name="Shape 13"/>
          <p:cNvSpPr/>
          <p:nvPr/>
        </p:nvSpPr>
        <p:spPr>
          <a:xfrm>
            <a:off x="640080" y="3547872"/>
            <a:ext cx="128016" cy="841248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p/>
        </p:txBody>
      </p:sp>
      <p:sp>
        <p:nvSpPr>
          <p:cNvPr id="268" name="Shape 14"/>
          <p:cNvSpPr/>
          <p:nvPr/>
        </p:nvSpPr>
        <p:spPr>
          <a:xfrm>
            <a:off x="1051560" y="3685032"/>
            <a:ext cx="566928" cy="5669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6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961" y="3832433"/>
            <a:ext cx="272125" cy="272125"/>
          </a:xfrm>
          <a:prstGeom prst="rect">
            <a:avLst/>
          </a:prstGeom>
        </p:spPr>
      </p:pic>
      <p:sp>
        <p:nvSpPr>
          <p:cNvPr id="270" name="Text 15"/>
          <p:cNvSpPr/>
          <p:nvPr/>
        </p:nvSpPr>
        <p:spPr>
          <a:xfrm>
            <a:off x="1828800" y="36576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核心能力层</a:t>
            </a:r>
            <a:endParaRPr lang="en-US" sz="1600" dirty="0"/>
          </a:p>
        </p:txBody>
      </p:sp>
      <p:sp>
        <p:nvSpPr>
          <p:cNvPr id="271" name="Text 16"/>
          <p:cNvSpPr/>
          <p:nvPr/>
        </p:nvSpPr>
        <p:spPr>
          <a:xfrm>
            <a:off x="5212080" y="365760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五大智能引擎(SPC/FDC/PdM/VM/APS) + 数字孪生</a:t>
            </a:r>
            <a:endParaRPr lang="en-US" sz="1300" dirty="0"/>
          </a:p>
        </p:txBody>
      </p:sp>
      <p:sp>
        <p:nvSpPr>
          <p:cNvPr id="272" name="Shape 17"/>
          <p:cNvSpPr/>
          <p:nvPr/>
        </p:nvSpPr>
        <p:spPr>
          <a:xfrm>
            <a:off x="640080" y="4498848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3" name="Shape 18"/>
          <p:cNvSpPr/>
          <p:nvPr/>
        </p:nvSpPr>
        <p:spPr>
          <a:xfrm>
            <a:off x="640080" y="4498848"/>
            <a:ext cx="128016" cy="841248"/>
          </a:xfrm>
          <a:prstGeom prst="rect">
            <a:avLst/>
          </a:prstGeom>
          <a:solidFill>
            <a:srgbClr val="2FB36B"/>
          </a:solidFill>
          <a:ln/>
        </p:spPr>
        <p:txBody>
          <a:bodyPr/>
          <a:p/>
        </p:txBody>
      </p:sp>
      <p:sp>
        <p:nvSpPr>
          <p:cNvPr id="274" name="Shape 19"/>
          <p:cNvSpPr/>
          <p:nvPr/>
        </p:nvSpPr>
        <p:spPr>
          <a:xfrm>
            <a:off x="1051560" y="4636008"/>
            <a:ext cx="566928" cy="5669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7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961" y="4783409"/>
            <a:ext cx="272125" cy="272125"/>
          </a:xfrm>
          <a:prstGeom prst="rect">
            <a:avLst/>
          </a:prstGeom>
        </p:spPr>
      </p:pic>
      <p:sp>
        <p:nvSpPr>
          <p:cNvPr id="276" name="Text 20"/>
          <p:cNvSpPr/>
          <p:nvPr/>
        </p:nvSpPr>
        <p:spPr>
          <a:xfrm>
            <a:off x="1828800" y="460857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数据主线</a:t>
            </a:r>
            <a:endParaRPr lang="en-US" sz="1600" dirty="0"/>
          </a:p>
        </p:txBody>
      </p:sp>
      <p:sp>
        <p:nvSpPr>
          <p:cNvPr id="277" name="Text 21"/>
          <p:cNvSpPr/>
          <p:nvPr/>
        </p:nvSpPr>
        <p:spPr>
          <a:xfrm>
            <a:off x="5212080" y="460857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事件驱动(event bus) · 唯一 WS 源 · 链式审计</a:t>
            </a:r>
            <a:endParaRPr lang="en-US" sz="1300" dirty="0"/>
          </a:p>
        </p:txBody>
      </p:sp>
      <p:sp>
        <p:nvSpPr>
          <p:cNvPr id="278" name="Shape 22"/>
          <p:cNvSpPr/>
          <p:nvPr/>
        </p:nvSpPr>
        <p:spPr>
          <a:xfrm>
            <a:off x="640080" y="5449824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127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9" name="Shape 23"/>
          <p:cNvSpPr/>
          <p:nvPr/>
        </p:nvSpPr>
        <p:spPr>
          <a:xfrm>
            <a:off x="640080" y="5449824"/>
            <a:ext cx="128016" cy="841248"/>
          </a:xfrm>
          <a:prstGeom prst="rect">
            <a:avLst/>
          </a:prstGeom>
          <a:solidFill>
            <a:srgbClr val="5B6B7E"/>
          </a:solidFill>
          <a:ln/>
        </p:spPr>
        <p:txBody>
          <a:bodyPr/>
          <a:p/>
        </p:txBody>
      </p:sp>
      <p:sp>
        <p:nvSpPr>
          <p:cNvPr id="280" name="Shape 24"/>
          <p:cNvSpPr/>
          <p:nvPr/>
        </p:nvSpPr>
        <p:spPr>
          <a:xfrm>
            <a:off x="1051560" y="5586984"/>
            <a:ext cx="566928" cy="5669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8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961" y="5734385"/>
            <a:ext cx="272125" cy="272125"/>
          </a:xfrm>
          <a:prstGeom prst="rect">
            <a:avLst/>
          </a:prstGeom>
        </p:spPr>
      </p:pic>
      <p:sp>
        <p:nvSpPr>
          <p:cNvPr id="282" name="Text 25"/>
          <p:cNvSpPr/>
          <p:nvPr/>
        </p:nvSpPr>
        <p:spPr>
          <a:xfrm>
            <a:off x="1828800" y="555955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接入层</a:t>
            </a:r>
            <a:endParaRPr lang="en-US" sz="1600" dirty="0"/>
          </a:p>
        </p:txBody>
      </p:sp>
      <p:sp>
        <p:nvSpPr>
          <p:cNvPr id="283" name="Text 26"/>
          <p:cNvSpPr/>
          <p:nvPr/>
        </p:nvSpPr>
        <p:spPr>
          <a:xfrm>
            <a:off x="5212080" y="555955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SECS/GEM · [OPC-UA/EDA/ISA-95：蓝图态 demo stub] · MES 原生 · 外部系统可选接入</a:t>
            </a:r>
            <a:endParaRPr lang="en-US" sz="1300" dirty="0"/>
          </a:p>
        </p:txBody>
      </p:sp>
      <p:sp>
        <p:nvSpPr>
          <p:cNvPr id="284" name="Text 2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285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0B1F3A"/>
        </a:solidFill>
      </p:bgPr>
    </p:bg>
    <p:spTree>
      <p:nvGrpSpPr>
        <p:cNvPr id="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FOUR-STAGE ROADMAP · 四级演进</a:t>
            </a:r>
            <a:endParaRPr lang="en-US" sz="1300" dirty="0"/>
          </a:p>
        </p:txBody>
      </p:sp>
      <p:sp>
        <p:nvSpPr>
          <p:cNvPr id="288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从开源沙盘到真实工厂的四级演进路线</a:t>
            </a:r>
            <a:endParaRPr lang="en-US" sz="2800" dirty="0"/>
          </a:p>
        </p:txBody>
      </p:sp>
      <p:sp>
        <p:nvSpPr>
          <p:cNvPr id="289" name="Shape 2"/>
          <p:cNvSpPr/>
          <p:nvPr/>
        </p:nvSpPr>
        <p:spPr>
          <a:xfrm>
            <a:off x="1920240" y="1600200"/>
            <a:ext cx="8970264" cy="0"/>
          </a:xfrm>
          <a:prstGeom prst="line">
            <a:avLst/>
          </a:prstGeom>
          <a:noFill/>
          <a:ln w="25400">
            <a:solidFill>
              <a:srgbClr val="5B6B7E"/>
            </a:solidFill>
            <a:prstDash val="dash"/>
          </a:ln>
        </p:spPr>
        <p:txBody>
          <a:bodyPr/>
          <a:p/>
        </p:txBody>
      </p:sp>
      <p:sp>
        <p:nvSpPr>
          <p:cNvPr id="290" name="Shape 3"/>
          <p:cNvSpPr/>
          <p:nvPr/>
        </p:nvSpPr>
        <p:spPr>
          <a:xfrm>
            <a:off x="640080" y="1828800"/>
            <a:ext cx="2606040" cy="3383280"/>
          </a:xfrm>
          <a:prstGeom prst="rect">
            <a:avLst/>
          </a:prstGeom>
          <a:solidFill>
            <a:srgbClr val="11294D"/>
          </a:solidFill>
          <a:ln w="1905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291" name="Shape 4"/>
          <p:cNvSpPr/>
          <p:nvPr/>
        </p:nvSpPr>
        <p:spPr>
          <a:xfrm>
            <a:off x="640080" y="1828800"/>
            <a:ext cx="2606040" cy="868680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292" name="Text 5"/>
          <p:cNvSpPr/>
          <p:nvPr/>
        </p:nvSpPr>
        <p:spPr>
          <a:xfrm>
            <a:off x="822960" y="190195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3400" dirty="0"/>
          </a:p>
        </p:txBody>
      </p:sp>
      <p:sp>
        <p:nvSpPr>
          <p:cNvPr id="293" name="Text 6"/>
          <p:cNvSpPr/>
          <p:nvPr/>
        </p:nvSpPr>
        <p:spPr>
          <a:xfrm>
            <a:off x="1691640" y="193852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社区级
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294" name="Text 7"/>
          <p:cNvSpPr/>
          <p:nvPr/>
        </p:nvSpPr>
        <p:spPr>
          <a:xfrm>
            <a:off x="868680" y="28803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开源沙盘一键部署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 Agent(零 API 成本)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芯片默认场景</a:t>
            </a:r>
            <a:endParaRPr lang="en-US" sz="1200" dirty="0"/>
          </a:p>
        </p:txBody>
      </p:sp>
      <p:sp>
        <p:nvSpPr>
          <p:cNvPr id="295" name="Shape 8"/>
          <p:cNvSpPr/>
          <p:nvPr/>
        </p:nvSpPr>
        <p:spPr>
          <a:xfrm>
            <a:off x="3630168" y="1828800"/>
            <a:ext cx="2606040" cy="3383280"/>
          </a:xfrm>
          <a:prstGeom prst="rect">
            <a:avLst/>
          </a:prstGeom>
          <a:solidFill>
            <a:srgbClr val="11294D"/>
          </a:solidFill>
          <a:ln w="19050">
            <a:solidFill>
              <a:srgbClr val="2E6FD6"/>
            </a:solidFill>
            <a:prstDash val="solid"/>
          </a:ln>
        </p:spPr>
        <p:txBody>
          <a:bodyPr/>
          <a:p/>
        </p:txBody>
      </p:sp>
      <p:sp>
        <p:nvSpPr>
          <p:cNvPr id="296" name="Shape 9"/>
          <p:cNvSpPr/>
          <p:nvPr/>
        </p:nvSpPr>
        <p:spPr>
          <a:xfrm>
            <a:off x="3630168" y="1828800"/>
            <a:ext cx="2606040" cy="868680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p/>
        </p:txBody>
      </p:sp>
      <p:sp>
        <p:nvSpPr>
          <p:cNvPr id="297" name="Text 10"/>
          <p:cNvSpPr/>
          <p:nvPr/>
        </p:nvSpPr>
        <p:spPr>
          <a:xfrm>
            <a:off x="3813048" y="190195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3400" dirty="0"/>
          </a:p>
        </p:txBody>
      </p:sp>
      <p:sp>
        <p:nvSpPr>
          <p:cNvPr id="298" name="Text 11"/>
          <p:cNvSpPr/>
          <p:nvPr/>
        </p:nvSpPr>
        <p:spPr>
          <a:xfrm>
            <a:off x="4681728" y="193852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教学级
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1500" dirty="0"/>
          </a:p>
        </p:txBody>
      </p:sp>
      <p:sp>
        <p:nvSpPr>
          <p:cNvPr id="299" name="Text 12"/>
          <p:cNvSpPr/>
          <p:nvPr/>
        </p:nvSpPr>
        <p:spPr>
          <a:xfrm>
            <a:off x="3858768" y="28803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模块课程 + 实验台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带教导师 Agent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 标准工艺库</a:t>
            </a:r>
            <a:endParaRPr lang="en-US" sz="1200" dirty="0"/>
          </a:p>
        </p:txBody>
      </p:sp>
      <p:sp>
        <p:nvSpPr>
          <p:cNvPr id="300" name="Shape 13"/>
          <p:cNvSpPr/>
          <p:nvPr/>
        </p:nvSpPr>
        <p:spPr>
          <a:xfrm>
            <a:off x="6620256" y="1828800"/>
            <a:ext cx="2606040" cy="3383280"/>
          </a:xfrm>
          <a:prstGeom prst="rect">
            <a:avLst/>
          </a:prstGeom>
          <a:solidFill>
            <a:srgbClr val="11294D"/>
          </a:solidFill>
          <a:ln w="19050">
            <a:solidFill>
              <a:srgbClr val="F2B544"/>
            </a:solidFill>
            <a:prstDash val="solid"/>
          </a:ln>
        </p:spPr>
        <p:txBody>
          <a:bodyPr/>
          <a:p/>
        </p:txBody>
      </p:sp>
      <p:sp>
        <p:nvSpPr>
          <p:cNvPr id="301" name="Shape 14"/>
          <p:cNvSpPr/>
          <p:nvPr/>
        </p:nvSpPr>
        <p:spPr>
          <a:xfrm>
            <a:off x="6620256" y="1828800"/>
            <a:ext cx="2606040" cy="86868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p/>
        </p:txBody>
      </p:sp>
      <p:sp>
        <p:nvSpPr>
          <p:cNvPr id="302" name="Text 15"/>
          <p:cNvSpPr/>
          <p:nvPr/>
        </p:nvSpPr>
        <p:spPr>
          <a:xfrm>
            <a:off x="6803136" y="190195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3400" dirty="0"/>
          </a:p>
        </p:txBody>
      </p:sp>
      <p:sp>
        <p:nvSpPr>
          <p:cNvPr id="303" name="Text 16"/>
          <p:cNvSpPr/>
          <p:nvPr/>
        </p:nvSpPr>
        <p:spPr>
          <a:xfrm>
            <a:off x="7671816" y="193852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专业级
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304" name="Text 17"/>
          <p:cNvSpPr/>
          <p:nvPr/>
        </p:nvSpPr>
        <p:spPr>
          <a:xfrm>
            <a:off x="6848856" y="28803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+ [OPC-UA/EDA：蓝图态 demo] 适配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引擎算法深化(WE/RUL/PCA)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协作副驾根因分析</a:t>
            </a:r>
            <a:endParaRPr lang="en-US" sz="1200" dirty="0"/>
          </a:p>
        </p:txBody>
      </p:sp>
      <p:sp>
        <p:nvSpPr>
          <p:cNvPr id="305" name="Shape 18"/>
          <p:cNvSpPr/>
          <p:nvPr/>
        </p:nvSpPr>
        <p:spPr>
          <a:xfrm>
            <a:off x="9610344" y="1828800"/>
            <a:ext cx="2606040" cy="3383280"/>
          </a:xfrm>
          <a:prstGeom prst="rect">
            <a:avLst/>
          </a:prstGeom>
          <a:solidFill>
            <a:srgbClr val="11294D"/>
          </a:solidFill>
          <a:ln w="19050">
            <a:solidFill>
              <a:srgbClr val="E5573E"/>
            </a:solidFill>
            <a:prstDash val="solid"/>
          </a:ln>
        </p:spPr>
        <p:txBody>
          <a:bodyPr/>
          <a:p/>
        </p:txBody>
      </p:sp>
      <p:sp>
        <p:nvSpPr>
          <p:cNvPr id="306" name="Shape 19"/>
          <p:cNvSpPr/>
          <p:nvPr/>
        </p:nvSpPr>
        <p:spPr>
          <a:xfrm>
            <a:off x="9610344" y="1828800"/>
            <a:ext cx="2606040" cy="868680"/>
          </a:xfrm>
          <a:prstGeom prst="rect">
            <a:avLst/>
          </a:prstGeom>
          <a:solidFill>
            <a:srgbClr val="E5573E"/>
          </a:solidFill>
          <a:ln/>
        </p:spPr>
        <p:txBody>
          <a:bodyPr/>
          <a:p/>
        </p:txBody>
      </p:sp>
      <p:sp>
        <p:nvSpPr>
          <p:cNvPr id="307" name="Text 20"/>
          <p:cNvSpPr/>
          <p:nvPr/>
        </p:nvSpPr>
        <p:spPr>
          <a:xfrm>
            <a:off x="9793224" y="190195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</a:t>
            </a:r>
            <a:endParaRPr lang="en-US" sz="3400" dirty="0"/>
          </a:p>
        </p:txBody>
      </p:sp>
      <p:sp>
        <p:nvSpPr>
          <p:cNvPr id="308" name="Text 21"/>
          <p:cNvSpPr/>
          <p:nvPr/>
        </p:nvSpPr>
        <p:spPr>
          <a:xfrm>
            <a:off x="10661904" y="193852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工厂级
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</a:t>
            </a:r>
            <a:endParaRPr lang="en-US" sz="1500" dirty="0"/>
          </a:p>
        </p:txBody>
      </p:sp>
      <p:sp>
        <p:nvSpPr>
          <p:cNvPr id="309" name="Text 22"/>
          <p:cNvSpPr/>
          <p:nvPr/>
        </p:nvSpPr>
        <p:spPr>
          <a:xfrm>
            <a:off x="9838944" y="28803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+ 合规审计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自治闭环 + APC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 MES/ERP 对接</a:t>
            </a:r>
            <a:endParaRPr lang="en-US" sz="1200" dirty="0"/>
          </a:p>
        </p:txBody>
      </p:sp>
      <p:sp>
        <p:nvSpPr>
          <p:cNvPr id="310" name="Text 23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每一级都在上一级的资产上增量构建，API 与事件契约向后兼容、零破坏性升级。</a:t>
            </a:r>
            <a:endParaRPr lang="en-US" sz="1300" dirty="0"/>
          </a:p>
        </p:txBody>
      </p:sp>
      <p:sp>
        <p:nvSpPr>
          <p:cNvPr id="311" name="Text 2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312" name="Text 2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6">
    <p:bg>
      <p:bgPr>
        <a:solidFill>
          <a:srgbClr val="F4F7FB"/>
        </a:solidFill>
      </p:bgPr>
    </p:bg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· 智能内核</a:t>
            </a:r>
            <a:endParaRPr lang="en-US" sz="1300" dirty="0"/>
          </a:p>
        </p:txBody>
      </p:sp>
      <p:sp>
        <p:nvSpPr>
          <p:cNvPr id="315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三层架构：从助手到自治</a:t>
            </a:r>
            <a:endParaRPr lang="en-US" sz="3000" dirty="0"/>
          </a:p>
        </p:txBody>
      </p:sp>
      <p:sp>
        <p:nvSpPr>
          <p:cNvPr id="316" name="Shape 2"/>
          <p:cNvSpPr/>
          <p:nvPr/>
        </p:nvSpPr>
        <p:spPr>
          <a:xfrm>
            <a:off x="640080" y="173736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317" name="Shape 3"/>
          <p:cNvSpPr/>
          <p:nvPr/>
        </p:nvSpPr>
        <p:spPr>
          <a:xfrm>
            <a:off x="1005840" y="1965960"/>
            <a:ext cx="777240" cy="77724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31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922" y="2168042"/>
            <a:ext cx="373075" cy="373075"/>
          </a:xfrm>
          <a:prstGeom prst="rect">
            <a:avLst/>
          </a:prstGeom>
        </p:spPr>
      </p:pic>
      <p:sp>
        <p:nvSpPr>
          <p:cNvPr id="319" name="Text 4"/>
          <p:cNvSpPr/>
          <p:nvPr/>
        </p:nvSpPr>
        <p:spPr>
          <a:xfrm>
            <a:off x="2011680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战略层 (Strategic)</a:t>
            </a:r>
            <a:endParaRPr lang="en-US" sz="1800" dirty="0"/>
          </a:p>
        </p:txBody>
      </p:sp>
      <p:sp>
        <p:nvSpPr>
          <p:cNvPr id="320" name="Text 5"/>
          <p:cNvSpPr/>
          <p:nvPr/>
        </p:nvSpPr>
        <p:spPr>
          <a:xfrm>
            <a:off x="2011680" y="23957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理解业务目标与全局 KPI，制定排产与升级策略，对接管理层决策。</a:t>
            </a:r>
            <a:endParaRPr lang="en-US" sz="1300" dirty="0"/>
          </a:p>
        </p:txBody>
      </p:sp>
      <p:sp>
        <p:nvSpPr>
          <p:cNvPr id="321" name="Shape 6"/>
          <p:cNvSpPr/>
          <p:nvPr/>
        </p:nvSpPr>
        <p:spPr>
          <a:xfrm>
            <a:off x="10149840" y="2080260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E5573E"/>
          </a:solidFill>
          <a:ln/>
        </p:spPr>
        <p:txBody>
          <a:bodyPr/>
          <a:p/>
        </p:txBody>
      </p:sp>
      <p:sp>
        <p:nvSpPr>
          <p:cNvPr id="322" name="Text 7"/>
          <p:cNvSpPr/>
          <p:nvPr/>
        </p:nvSpPr>
        <p:spPr>
          <a:xfrm>
            <a:off x="10149840" y="20802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</a:t>
            </a:r>
            <a:endParaRPr lang="en-US" sz="1400" dirty="0"/>
          </a:p>
        </p:txBody>
      </p:sp>
      <p:sp>
        <p:nvSpPr>
          <p:cNvPr id="323" name="Shape 8"/>
          <p:cNvSpPr/>
          <p:nvPr/>
        </p:nvSpPr>
        <p:spPr>
          <a:xfrm>
            <a:off x="640080" y="320040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324" name="Shape 9"/>
          <p:cNvSpPr/>
          <p:nvPr/>
        </p:nvSpPr>
        <p:spPr>
          <a:xfrm>
            <a:off x="1005840" y="3429000"/>
            <a:ext cx="777240" cy="77724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3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922" y="3631082"/>
            <a:ext cx="373075" cy="373075"/>
          </a:xfrm>
          <a:prstGeom prst="rect">
            <a:avLst/>
          </a:prstGeom>
        </p:spPr>
      </p:pic>
      <p:sp>
        <p:nvSpPr>
          <p:cNvPr id="326" name="Text 10"/>
          <p:cNvSpPr/>
          <p:nvPr/>
        </p:nvSpPr>
        <p:spPr>
          <a:xfrm>
            <a:off x="2011680" y="3401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领域层 (Domain)</a:t>
            </a:r>
            <a:endParaRPr lang="en-US" sz="1800" dirty="0"/>
          </a:p>
        </p:txBody>
      </p:sp>
      <p:sp>
        <p:nvSpPr>
          <p:cNvPr id="327" name="Text 11"/>
          <p:cNvSpPr/>
          <p:nvPr/>
        </p:nvSpPr>
        <p:spPr>
          <a:xfrm>
            <a:off x="2011680" y="38587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工艺/SPC/FDC/排程等专业知识，提供根因分析与处置建议、工单草稿。</a:t>
            </a:r>
            <a:endParaRPr lang="en-US" sz="1300" dirty="0"/>
          </a:p>
        </p:txBody>
      </p:sp>
      <p:sp>
        <p:nvSpPr>
          <p:cNvPr id="328" name="Shape 12"/>
          <p:cNvSpPr/>
          <p:nvPr/>
        </p:nvSpPr>
        <p:spPr>
          <a:xfrm>
            <a:off x="10149840" y="3543300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F2B544"/>
          </a:solidFill>
          <a:ln/>
        </p:spPr>
        <p:txBody>
          <a:bodyPr/>
          <a:p/>
        </p:txBody>
      </p:sp>
      <p:sp>
        <p:nvSpPr>
          <p:cNvPr id="329" name="Text 13"/>
          <p:cNvSpPr/>
          <p:nvPr/>
        </p:nvSpPr>
        <p:spPr>
          <a:xfrm>
            <a:off x="10149840" y="35433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L2/L3</a:t>
            </a:r>
            <a:endParaRPr lang="en-US" sz="1400" dirty="0"/>
          </a:p>
        </p:txBody>
      </p:sp>
      <p:sp>
        <p:nvSpPr>
          <p:cNvPr id="330" name="Shape 14"/>
          <p:cNvSpPr/>
          <p:nvPr/>
        </p:nvSpPr>
        <p:spPr>
          <a:xfrm>
            <a:off x="640080" y="4663440"/>
            <a:ext cx="10881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331" name="Shape 15"/>
          <p:cNvSpPr/>
          <p:nvPr/>
        </p:nvSpPr>
        <p:spPr>
          <a:xfrm>
            <a:off x="1005840" y="4892040"/>
            <a:ext cx="777240" cy="77724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3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922" y="5094122"/>
            <a:ext cx="373075" cy="373075"/>
          </a:xfrm>
          <a:prstGeom prst="rect">
            <a:avLst/>
          </a:prstGeom>
        </p:spPr>
      </p:pic>
      <p:sp>
        <p:nvSpPr>
          <p:cNvPr id="333" name="Text 16"/>
          <p:cNvSpPr/>
          <p:nvPr/>
        </p:nvSpPr>
        <p:spPr>
          <a:xfrm>
            <a:off x="2011680" y="4864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执行层 (Execution)</a:t>
            </a:r>
            <a:endParaRPr lang="en-US" sz="1800" dirty="0"/>
          </a:p>
        </p:txBody>
      </p:sp>
      <p:sp>
        <p:nvSpPr>
          <p:cNvPr id="334" name="Text 17"/>
          <p:cNvSpPr/>
          <p:nvPr/>
        </p:nvSpPr>
        <p:spPr>
          <a:xfrm>
            <a:off x="2011680" y="53218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对话问答、实验引导、实时数据检索；现已订阅 MES 事件总线，串 FDC/SPC/APC/VM/APS 五大引擎 + OTD 主轴实时编排。</a:t>
            </a:r>
            <a:endParaRPr lang="en-US" sz="1300" dirty="0"/>
          </a:p>
        </p:txBody>
      </p:sp>
      <p:sp>
        <p:nvSpPr>
          <p:cNvPr id="335" name="Shape 18"/>
          <p:cNvSpPr/>
          <p:nvPr/>
        </p:nvSpPr>
        <p:spPr>
          <a:xfrm>
            <a:off x="10149840" y="5006340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336" name="Text 19"/>
          <p:cNvSpPr/>
          <p:nvPr/>
        </p:nvSpPr>
        <p:spPr>
          <a:xfrm>
            <a:off x="10149840" y="50063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1400" dirty="0"/>
          </a:p>
        </p:txBody>
      </p:sp>
      <p:sp>
        <p:nvSpPr>
          <p:cNvPr id="337" name="Text 20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5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安全铁律：</a:t>
            </a: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导师只提示不代做 · 副驾只分析不写库 · 自治写操作须人审（requireExplicitConsent）</a:t>
            </a:r>
            <a:endParaRPr lang="en-US" sz="1300" dirty="0"/>
          </a:p>
        </p:txBody>
      </p:sp>
      <p:sp>
        <p:nvSpPr>
          <p:cNvPr id="338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339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7">
    <p:bg>
      <p:bgPr>
        <a:solidFill>
          <a:srgbClr val="0B1F3A"/>
        </a:solidFill>
      </p:bgPr>
    </p:bg>
    <p:spTree>
      <p:nvGrpSpPr>
        <p:cNvPr id="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ENGINES · 核心能力</a:t>
            </a:r>
            <a:endParaRPr lang="en-US" sz="1300" dirty="0"/>
          </a:p>
        </p:txBody>
      </p:sp>
      <p:sp>
        <p:nvSpPr>
          <p:cNvPr id="342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五大智能引擎：从启发式到真实算法内核</a:t>
            </a:r>
            <a:endParaRPr lang="en-US" sz="2600" dirty="0"/>
          </a:p>
        </p:txBody>
      </p:sp>
      <p:sp>
        <p:nvSpPr>
          <p:cNvPr id="343" name="Shape 2"/>
          <p:cNvSpPr/>
          <p:nvPr/>
        </p:nvSpPr>
        <p:spPr>
          <a:xfrm>
            <a:off x="640080" y="1783080"/>
            <a:ext cx="3383280" cy="1783080"/>
          </a:xfrm>
          <a:prstGeom prst="rect">
            <a:avLst/>
          </a:prstGeom>
          <a:solidFill>
            <a:srgbClr val="11294D"/>
          </a:solidFill>
          <a:ln w="1270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344" name="Shape 3"/>
          <p:cNvSpPr/>
          <p:nvPr/>
        </p:nvSpPr>
        <p:spPr>
          <a:xfrm>
            <a:off x="914400" y="205740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34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2235708"/>
            <a:ext cx="329184" cy="329184"/>
          </a:xfrm>
          <a:prstGeom prst="rect">
            <a:avLst/>
          </a:prstGeom>
        </p:spPr>
      </p:pic>
      <p:sp>
        <p:nvSpPr>
          <p:cNvPr id="346" name="Text 4"/>
          <p:cNvSpPr/>
          <p:nvPr/>
        </p:nvSpPr>
        <p:spPr>
          <a:xfrm>
            <a:off x="1737360" y="2075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SPC 统计过程控制</a:t>
            </a:r>
            <a:endParaRPr lang="en-US" sz="1400" dirty="0"/>
          </a:p>
        </p:txBody>
      </p:sp>
      <p:sp>
        <p:nvSpPr>
          <p:cNvPr id="347" name="Text 5"/>
          <p:cNvSpPr/>
          <p:nvPr/>
        </p:nvSpPr>
        <p:spPr>
          <a:xfrm>
            <a:off x="91440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Electric WE1–WE6 完整规则集，动态 3σ 控制限，规格硬限兜底。</a:t>
            </a:r>
            <a:endParaRPr lang="en-US" sz="1150" dirty="0"/>
          </a:p>
        </p:txBody>
      </p:sp>
      <p:sp>
        <p:nvSpPr>
          <p:cNvPr id="348" name="Shape 6"/>
          <p:cNvSpPr/>
          <p:nvPr/>
        </p:nvSpPr>
        <p:spPr>
          <a:xfrm>
            <a:off x="4389120" y="1783080"/>
            <a:ext cx="3383280" cy="1783080"/>
          </a:xfrm>
          <a:prstGeom prst="rect">
            <a:avLst/>
          </a:prstGeom>
          <a:solidFill>
            <a:srgbClr val="11294D"/>
          </a:solidFill>
          <a:ln w="1270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349" name="Shape 7"/>
          <p:cNvSpPr/>
          <p:nvPr/>
        </p:nvSpPr>
        <p:spPr>
          <a:xfrm>
            <a:off x="4663440" y="205740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35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48" y="2235708"/>
            <a:ext cx="329184" cy="329184"/>
          </a:xfrm>
          <a:prstGeom prst="rect">
            <a:avLst/>
          </a:prstGeom>
        </p:spPr>
      </p:pic>
      <p:sp>
        <p:nvSpPr>
          <p:cNvPr id="351" name="Text 8"/>
          <p:cNvSpPr/>
          <p:nvPr/>
        </p:nvSpPr>
        <p:spPr>
          <a:xfrm>
            <a:off x="5486400" y="2075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FDC 故障检测</a:t>
            </a:r>
            <a:endParaRPr lang="en-US" sz="1400" dirty="0"/>
          </a:p>
        </p:txBody>
      </p:sp>
      <p:sp>
        <p:nvSpPr>
          <p:cNvPr id="352" name="Text 9"/>
          <p:cNvSpPr/>
          <p:nvPr/>
        </p:nvSpPr>
        <p:spPr>
          <a:xfrm>
            <a:off x="466344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PCA-lite 马氏距离多变量异常检测，输出 score 与贡献度分解。</a:t>
            </a:r>
            <a:endParaRPr lang="en-US" sz="1150" dirty="0"/>
          </a:p>
        </p:txBody>
      </p:sp>
      <p:sp>
        <p:nvSpPr>
          <p:cNvPr id="353" name="Shape 10"/>
          <p:cNvSpPr/>
          <p:nvPr/>
        </p:nvSpPr>
        <p:spPr>
          <a:xfrm>
            <a:off x="8138160" y="1783080"/>
            <a:ext cx="3383280" cy="1783080"/>
          </a:xfrm>
          <a:prstGeom prst="rect">
            <a:avLst/>
          </a:prstGeom>
          <a:solidFill>
            <a:srgbClr val="11294D"/>
          </a:solidFill>
          <a:ln w="1270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354" name="Shape 11"/>
          <p:cNvSpPr/>
          <p:nvPr/>
        </p:nvSpPr>
        <p:spPr>
          <a:xfrm>
            <a:off x="8412480" y="205740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35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788" y="2235708"/>
            <a:ext cx="329184" cy="329184"/>
          </a:xfrm>
          <a:prstGeom prst="rect">
            <a:avLst/>
          </a:prstGeom>
        </p:spPr>
      </p:pic>
      <p:sp>
        <p:nvSpPr>
          <p:cNvPr id="356" name="Text 12"/>
          <p:cNvSpPr/>
          <p:nvPr/>
        </p:nvSpPr>
        <p:spPr>
          <a:xfrm>
            <a:off x="9235440" y="2075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PdM 预测性维护</a:t>
            </a:r>
            <a:endParaRPr lang="en-US" sz="1400" dirty="0"/>
          </a:p>
        </p:txBody>
      </p:sp>
      <p:sp>
        <p:nvSpPr>
          <p:cNvPr id="357" name="Text 13"/>
          <p:cNvSpPr/>
          <p:nvPr/>
        </p:nvSpPr>
        <p:spPr>
          <a:xfrm>
            <a:off x="841248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退化模型估计剩余寿命 RUL，输出 rulHours 与风险等级。</a:t>
            </a:r>
            <a:endParaRPr lang="en-US" sz="1150" dirty="0"/>
          </a:p>
        </p:txBody>
      </p:sp>
      <p:sp>
        <p:nvSpPr>
          <p:cNvPr id="358" name="Shape 14"/>
          <p:cNvSpPr/>
          <p:nvPr/>
        </p:nvSpPr>
        <p:spPr>
          <a:xfrm>
            <a:off x="640080" y="3886200"/>
            <a:ext cx="3383280" cy="1783080"/>
          </a:xfrm>
          <a:prstGeom prst="rect">
            <a:avLst/>
          </a:prstGeom>
          <a:solidFill>
            <a:srgbClr val="11294D"/>
          </a:solidFill>
          <a:ln w="1270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359" name="Shape 15"/>
          <p:cNvSpPr/>
          <p:nvPr/>
        </p:nvSpPr>
        <p:spPr>
          <a:xfrm>
            <a:off x="914400" y="416052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36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" y="4338828"/>
            <a:ext cx="329184" cy="329184"/>
          </a:xfrm>
          <a:prstGeom prst="rect">
            <a:avLst/>
          </a:prstGeom>
        </p:spPr>
      </p:pic>
      <p:sp>
        <p:nvSpPr>
          <p:cNvPr id="361" name="Text 16"/>
          <p:cNvSpPr/>
          <p:nvPr/>
        </p:nvSpPr>
        <p:spPr>
          <a:xfrm>
            <a:off x="1737360" y="4178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 虚拟量测</a:t>
            </a:r>
            <a:endParaRPr lang="en-US" sz="1400" dirty="0"/>
          </a:p>
        </p:txBody>
      </p:sp>
      <p:sp>
        <p:nvSpPr>
          <p:cNvPr id="362" name="Text 17"/>
          <p:cNvSpPr/>
          <p:nvPr/>
        </p:nvSpPr>
        <p:spPr>
          <a:xfrm>
            <a:off x="914400" y="4892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线性回归预测不可测参数，输出 predicted 与 residual 残差。</a:t>
            </a:r>
            <a:endParaRPr lang="en-US" sz="1150" dirty="0"/>
          </a:p>
        </p:txBody>
      </p:sp>
      <p:sp>
        <p:nvSpPr>
          <p:cNvPr id="363" name="Shape 18"/>
          <p:cNvSpPr/>
          <p:nvPr/>
        </p:nvSpPr>
        <p:spPr>
          <a:xfrm>
            <a:off x="4389120" y="3886200"/>
            <a:ext cx="3383280" cy="1783080"/>
          </a:xfrm>
          <a:prstGeom prst="rect">
            <a:avLst/>
          </a:prstGeom>
          <a:solidFill>
            <a:srgbClr val="11294D"/>
          </a:solidFill>
          <a:ln w="1270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364" name="Shape 19"/>
          <p:cNvSpPr/>
          <p:nvPr/>
        </p:nvSpPr>
        <p:spPr>
          <a:xfrm>
            <a:off x="4663440" y="416052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36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748" y="4338828"/>
            <a:ext cx="329184" cy="329184"/>
          </a:xfrm>
          <a:prstGeom prst="rect">
            <a:avLst/>
          </a:prstGeom>
        </p:spPr>
      </p:pic>
      <p:sp>
        <p:nvSpPr>
          <p:cNvPr id="366" name="Text 20"/>
          <p:cNvSpPr/>
          <p:nvPr/>
        </p:nvSpPr>
        <p:spPr>
          <a:xfrm>
            <a:off x="5486400" y="4178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APS 高级排程</a:t>
            </a:r>
            <a:endParaRPr lang="en-US" sz="1400" dirty="0"/>
          </a:p>
        </p:txBody>
      </p:sp>
      <p:sp>
        <p:nvSpPr>
          <p:cNvPr id="367" name="Text 21"/>
          <p:cNvSpPr/>
          <p:nvPr/>
        </p:nvSpPr>
        <p:spPr>
          <a:xfrm>
            <a:off x="4663440" y="4892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启发式 fallback + 整数规划(ILP)近似求解，输出最优性与瓶颈分析。</a:t>
            </a:r>
            <a:endParaRPr lang="en-US" sz="1150" dirty="0"/>
          </a:p>
        </p:txBody>
      </p:sp>
      <p:sp>
        <p:nvSpPr>
          <p:cNvPr id="368" name="Shape 22"/>
          <p:cNvSpPr/>
          <p:nvPr/>
        </p:nvSpPr>
        <p:spPr>
          <a:xfrm>
            <a:off x="8138160" y="3886200"/>
            <a:ext cx="3383280" cy="914400"/>
          </a:xfrm>
          <a:prstGeom prst="rect">
            <a:avLst/>
          </a:prstGeom>
          <a:solidFill>
            <a:srgbClr val="11294D"/>
          </a:solidFill>
          <a:ln w="15240">
            <a:solidFill>
              <a:srgbClr val="F2B544"/>
            </a:solidFill>
            <a:prstDash val="solid"/>
          </a:ln>
        </p:spPr>
        <p:txBody>
          <a:bodyPr/>
          <a:p/>
        </p:txBody>
      </p:sp>
      <p:sp>
        <p:nvSpPr>
          <p:cNvPr id="369" name="Shape 23"/>
          <p:cNvSpPr/>
          <p:nvPr/>
        </p:nvSpPr>
        <p:spPr>
          <a:xfrm>
            <a:off x="8412480" y="4087368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37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3239" y="4218127"/>
            <a:ext cx="241402" cy="241402"/>
          </a:xfrm>
          <a:prstGeom prst="rect">
            <a:avLst/>
          </a:prstGeom>
        </p:spPr>
      </p:pic>
      <p:sp>
        <p:nvSpPr>
          <p:cNvPr id="371" name="Text 24"/>
          <p:cNvSpPr/>
          <p:nvPr/>
        </p:nvSpPr>
        <p:spPr>
          <a:xfrm>
            <a:off x="9052560" y="3995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
</a:t>
            </a: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装备/产线/工厂三级 + what-if 仿真</a:t>
            </a:r>
            <a:endParaRPr lang="en-US" sz="1400" dirty="0"/>
          </a:p>
        </p:txBody>
      </p:sp>
      <p:sp>
        <p:nvSpPr>
          <p:cNvPr id="372" name="Text 2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373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8">
    <p:bg>
      <p:bgPr>
        <a:solidFill>
          <a:srgbClr val="F4F7FB"/>
        </a:solidFill>
      </p:bgPr>
    </p:bg>
    <p:spTree>
      <p:nvGrpSpPr>
        <p:cNvPr id="3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L1 · COMMUNITY</a:t>
            </a:r>
            <a:endParaRPr lang="en-US" sz="1300" dirty="0"/>
          </a:p>
        </p:txBody>
      </p:sp>
      <p:sp>
        <p:nvSpPr>
          <p:cNvPr id="376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 社区级：开源沙盘 + 对话 Agent</a:t>
            </a:r>
            <a:endParaRPr lang="en-US" sz="3000" dirty="0"/>
          </a:p>
        </p:txBody>
      </p:sp>
      <p:sp>
        <p:nvSpPr>
          <p:cNvPr id="377" name="Shape 2"/>
          <p:cNvSpPr/>
          <p:nvPr/>
        </p:nvSpPr>
        <p:spPr>
          <a:xfrm>
            <a:off x="640080" y="1691640"/>
            <a:ext cx="5120640" cy="420624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sx="100000" sy="100000" kx="0" ky="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78" name="Shape 3"/>
          <p:cNvSpPr/>
          <p:nvPr/>
        </p:nvSpPr>
        <p:spPr>
          <a:xfrm>
            <a:off x="914400" y="1965960"/>
            <a:ext cx="914400" cy="914400"/>
          </a:xfrm>
          <a:prstGeom prst="ellipse">
            <a:avLst/>
          </a:prstGeom>
          <a:solidFill>
            <a:srgbClr val="11294D"/>
          </a:solidFill>
          <a:ln/>
        </p:spPr>
        <p:txBody>
          <a:bodyPr/>
          <a:p/>
        </p:txBody>
      </p:sp>
      <p:pic>
        <p:nvPicPr>
          <p:cNvPr id="37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203704"/>
            <a:ext cx="438912" cy="438912"/>
          </a:xfrm>
          <a:prstGeom prst="rect">
            <a:avLst/>
          </a:prstGeom>
        </p:spPr>
      </p:pic>
      <p:sp>
        <p:nvSpPr>
          <p:cNvPr id="380" name="Text 4"/>
          <p:cNvSpPr/>
          <p:nvPr/>
        </p:nvSpPr>
        <p:spPr>
          <a:xfrm>
            <a:off x="201168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面向谁</a:t>
            </a:r>
            <a:endParaRPr lang="en-US" sz="1800" dirty="0"/>
          </a:p>
        </p:txBody>
      </p:sp>
      <p:sp>
        <p:nvSpPr>
          <p:cNvPr id="381" name="Text 5"/>
          <p:cNvSpPr/>
          <p:nvPr/>
        </p:nvSpPr>
        <p:spPr>
          <a:xfrm>
            <a:off x="2011680" y="2423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开源爱好者、学生、技术布道者——零门槛体验智能晶圆厂。</a:t>
            </a:r>
            <a:endParaRPr lang="en-US" sz="1300" dirty="0"/>
          </a:p>
        </p:txBody>
      </p:sp>
      <p:sp>
        <p:nvSpPr>
          <p:cNvPr id="382" name="Text 6"/>
          <p:cNvSpPr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零 API 成本</a:t>
            </a:r>
            <a:endParaRPr lang="en-US" sz="1600" dirty="0"/>
          </a:p>
        </p:txBody>
      </p:sp>
      <p:sp>
        <p:nvSpPr>
          <p:cNvPr id="383" name="Text 7"/>
          <p:cNvSpPr/>
          <p:nvPr/>
        </p:nvSpPr>
        <p:spPr>
          <a:xfrm>
            <a:off x="914400" y="3931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基于规则引擎 + 实时 REST 检索，不调用外部大模型，绝不编造数据。</a:t>
            </a:r>
            <a:endParaRPr lang="en-US" sz="1300" dirty="0"/>
          </a:p>
        </p:txBody>
      </p:sp>
      <p:sp>
        <p:nvSpPr>
          <p:cNvPr id="384" name="Shape 8"/>
          <p:cNvSpPr/>
          <p:nvPr/>
        </p:nvSpPr>
        <p:spPr>
          <a:xfrm>
            <a:off x="914400" y="4846320"/>
            <a:ext cx="4663440" cy="777240"/>
          </a:xfrm>
          <a:prstGeom prst="rect">
            <a:avLst/>
          </a:prstGeom>
          <a:solidFill>
            <a:srgbClr val="11294D"/>
          </a:solidFill>
          <a:ln w="1270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385" name="Text 9"/>
          <p:cNvSpPr/>
          <p:nvPr/>
        </p:nvSpPr>
        <p:spPr>
          <a:xfrm>
            <a:off x="1097280" y="4937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类意图覆盖
</a:t>
            </a: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概览 · 孪生 · 引擎 · 成本 · 设备 · what-if · SPC 场景</a:t>
            </a:r>
            <a:endParaRPr lang="en-US" sz="1400" dirty="0"/>
          </a:p>
        </p:txBody>
      </p:sp>
      <p:sp>
        <p:nvSpPr>
          <p:cNvPr id="386" name="Text 10"/>
          <p:cNvSpPr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关键交付</a:t>
            </a:r>
            <a:endParaRPr lang="en-US" sz="2000" dirty="0"/>
          </a:p>
        </p:txBody>
      </p:sp>
      <p:pic>
        <p:nvPicPr>
          <p:cNvPr id="38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31720"/>
            <a:ext cx="384048" cy="384048"/>
          </a:xfrm>
          <a:prstGeom prst="rect">
            <a:avLst/>
          </a:prstGeom>
        </p:spPr>
      </p:pic>
      <p:sp>
        <p:nvSpPr>
          <p:cNvPr id="388" name="Text 11"/>
          <p:cNvSpPr/>
          <p:nvPr/>
        </p:nvSpPr>
        <p:spPr>
          <a:xfrm>
            <a:off x="6766560" y="2286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一键部署，端口 env 可覆盖</a:t>
            </a:r>
            <a:endParaRPr lang="en-US" sz="1400" dirty="0"/>
          </a:p>
        </p:txBody>
      </p:sp>
      <p:pic>
        <p:nvPicPr>
          <p:cNvPr id="38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044952"/>
            <a:ext cx="384048" cy="384048"/>
          </a:xfrm>
          <a:prstGeom prst="rect">
            <a:avLst/>
          </a:prstGeom>
        </p:spPr>
      </p:pic>
      <p:sp>
        <p:nvSpPr>
          <p:cNvPr id="390" name="Text 12"/>
          <p:cNvSpPr/>
          <p:nvPr/>
        </p:nvSpPr>
        <p:spPr>
          <a:xfrm>
            <a:off x="6766560" y="29992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台设备 / 6 模块默认场景</a:t>
            </a:r>
            <a:endParaRPr lang="en-US" sz="1400" dirty="0"/>
          </a:p>
        </p:txBody>
      </p:sp>
      <p:pic>
        <p:nvPicPr>
          <p:cNvPr id="39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58184"/>
            <a:ext cx="384048" cy="384048"/>
          </a:xfrm>
          <a:prstGeom prst="rect">
            <a:avLst/>
          </a:prstGeom>
        </p:spPr>
      </p:pic>
      <p:sp>
        <p:nvSpPr>
          <p:cNvPr id="392" name="Text 13"/>
          <p:cNvSpPr/>
          <p:nvPr/>
        </p:nvSpPr>
        <p:spPr>
          <a:xfrm>
            <a:off x="6766560" y="37124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N2(2nm) + A16 自动投料在制</a:t>
            </a:r>
            <a:endParaRPr lang="en-US" sz="1400" dirty="0"/>
          </a:p>
        </p:txBody>
      </p:sp>
      <p:pic>
        <p:nvPicPr>
          <p:cNvPr id="39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471416"/>
            <a:ext cx="384048" cy="384048"/>
          </a:xfrm>
          <a:prstGeom prst="rect">
            <a:avLst/>
          </a:prstGeom>
        </p:spPr>
      </p:pic>
      <p:sp>
        <p:nvSpPr>
          <p:cNvPr id="394" name="Text 14"/>
          <p:cNvSpPr/>
          <p:nvPr/>
        </p:nvSpPr>
        <p:spPr>
          <a:xfrm>
            <a:off x="6766560" y="44256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对话实时拉取真实成本与库存</a:t>
            </a:r>
            <a:endParaRPr lang="en-US" sz="1400" dirty="0"/>
          </a:p>
        </p:txBody>
      </p:sp>
      <p:pic>
        <p:nvPicPr>
          <p:cNvPr id="39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5184648"/>
            <a:ext cx="384048" cy="384048"/>
          </a:xfrm>
          <a:prstGeom prst="rect">
            <a:avLst/>
          </a:prstGeom>
        </p:spPr>
      </p:pic>
      <p:sp>
        <p:nvSpPr>
          <p:cNvPr id="396" name="Text 15"/>
          <p:cNvSpPr/>
          <p:nvPr/>
        </p:nvSpPr>
        <p:spPr>
          <a:xfrm>
            <a:off x="6766560" y="5138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芯片工艺场景文档固化</a:t>
            </a:r>
            <a:endParaRPr lang="en-US" sz="1400" dirty="0"/>
          </a:p>
        </p:txBody>
      </p:sp>
      <p:sp>
        <p:nvSpPr>
          <p:cNvPr id="397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398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9">
    <p:bg>
      <p:bgPr>
        <a:solidFill>
          <a:srgbClr val="0B1F3A"/>
        </a:solidFill>
      </p:bgPr>
    </p:bg>
    <p:spTree>
      <p:nvGrpSpPr>
        <p:cNvPr id="3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L2 · EDUCATIONAL</a:t>
            </a:r>
            <a:endParaRPr lang="en-US" sz="1300" dirty="0"/>
          </a:p>
        </p:txBody>
      </p:sp>
      <p:sp>
        <p:nvSpPr>
          <p:cNvPr id="401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教学级：课程实验台 + 带教导师</a:t>
            </a:r>
            <a:endParaRPr lang="en-US" sz="2700" dirty="0"/>
          </a:p>
        </p:txBody>
      </p:sp>
      <p:sp>
        <p:nvSpPr>
          <p:cNvPr id="402" name="Shape 2"/>
          <p:cNvSpPr/>
          <p:nvPr/>
        </p:nvSpPr>
        <p:spPr>
          <a:xfrm>
            <a:off x="640080" y="1828800"/>
            <a:ext cx="3520440" cy="2377440"/>
          </a:xfrm>
          <a:prstGeom prst="rect">
            <a:avLst/>
          </a:prstGeom>
          <a:solidFill>
            <a:srgbClr val="11294D"/>
          </a:solidFill>
          <a:ln w="15240">
            <a:solidFill>
              <a:srgbClr val="2E6FD6"/>
            </a:solidFill>
            <a:prstDash val="solid"/>
          </a:ln>
        </p:spPr>
        <p:txBody>
          <a:bodyPr/>
          <a:p/>
        </p:txBody>
      </p:sp>
      <p:sp>
        <p:nvSpPr>
          <p:cNvPr id="403" name="Shape 3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40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02" y="2350922"/>
            <a:ext cx="373075" cy="373075"/>
          </a:xfrm>
          <a:prstGeom prst="rect">
            <a:avLst/>
          </a:prstGeom>
        </p:spPr>
      </p:pic>
      <p:sp>
        <p:nvSpPr>
          <p:cNvPr id="405" name="Text 4"/>
          <p:cNvSpPr/>
          <p:nvPr/>
        </p:nvSpPr>
        <p:spPr>
          <a:xfrm>
            <a:off x="187452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模块课程</a:t>
            </a:r>
            <a:endParaRPr lang="en-US" sz="1600" dirty="0"/>
          </a:p>
        </p:txBody>
      </p:sp>
      <p:sp>
        <p:nvSpPr>
          <p:cNvPr id="406" name="Text 5"/>
          <p:cNvSpPr/>
          <p:nvPr/>
        </p:nvSpPr>
        <p:spPr>
          <a:xfrm>
            <a:off x="960120" y="3063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/ APS / 工艺 / 良率系统课程大纲，配套实验清单。</a:t>
            </a:r>
            <a:endParaRPr lang="en-US" sz="1300" dirty="0"/>
          </a:p>
        </p:txBody>
      </p:sp>
      <p:sp>
        <p:nvSpPr>
          <p:cNvPr id="407" name="Shape 6"/>
          <p:cNvSpPr/>
          <p:nvPr/>
        </p:nvSpPr>
        <p:spPr>
          <a:xfrm>
            <a:off x="4526280" y="1828800"/>
            <a:ext cx="3520440" cy="2377440"/>
          </a:xfrm>
          <a:prstGeom prst="rect">
            <a:avLst/>
          </a:prstGeom>
          <a:solidFill>
            <a:srgbClr val="11294D"/>
          </a:solidFill>
          <a:ln w="1524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408" name="Shape 7"/>
          <p:cNvSpPr/>
          <p:nvPr/>
        </p:nvSpPr>
        <p:spPr>
          <a:xfrm>
            <a:off x="4846320" y="21488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40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02" y="2350922"/>
            <a:ext cx="373075" cy="373075"/>
          </a:xfrm>
          <a:prstGeom prst="rect">
            <a:avLst/>
          </a:prstGeom>
        </p:spPr>
      </p:pic>
      <p:sp>
        <p:nvSpPr>
          <p:cNvPr id="410" name="Text 8"/>
          <p:cNvSpPr/>
          <p:nvPr/>
        </p:nvSpPr>
        <p:spPr>
          <a:xfrm>
            <a:off x="576072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实验台 lab.html</a:t>
            </a:r>
            <a:endParaRPr lang="en-US" sz="1600" dirty="0"/>
          </a:p>
        </p:txBody>
      </p:sp>
      <p:sp>
        <p:nvSpPr>
          <p:cNvPr id="411" name="Text 9"/>
          <p:cNvSpPr/>
          <p:nvPr/>
        </p:nvSpPr>
        <p:spPr>
          <a:xfrm>
            <a:off x="4846320" y="3063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实验选择器 + 分步 checklist + 注入/sim 表单 + 实时结果。</a:t>
            </a:r>
            <a:endParaRPr lang="en-US" sz="1300" dirty="0"/>
          </a:p>
        </p:txBody>
      </p:sp>
      <p:sp>
        <p:nvSpPr>
          <p:cNvPr id="412" name="Shape 10"/>
          <p:cNvSpPr/>
          <p:nvPr/>
        </p:nvSpPr>
        <p:spPr>
          <a:xfrm>
            <a:off x="8412480" y="1828800"/>
            <a:ext cx="3520440" cy="2377440"/>
          </a:xfrm>
          <a:prstGeom prst="rect">
            <a:avLst/>
          </a:prstGeom>
          <a:solidFill>
            <a:srgbClr val="11294D"/>
          </a:solidFill>
          <a:ln w="15240">
            <a:solidFill>
              <a:srgbClr val="F2B544"/>
            </a:solidFill>
            <a:prstDash val="solid"/>
          </a:ln>
        </p:spPr>
        <p:txBody>
          <a:bodyPr/>
          <a:p/>
        </p:txBody>
      </p:sp>
      <p:sp>
        <p:nvSpPr>
          <p:cNvPr id="413" name="Shape 11"/>
          <p:cNvSpPr/>
          <p:nvPr/>
        </p:nvSpPr>
        <p:spPr>
          <a:xfrm>
            <a:off x="8732520" y="21488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4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602" y="2350922"/>
            <a:ext cx="373075" cy="373075"/>
          </a:xfrm>
          <a:prstGeom prst="rect">
            <a:avLst/>
          </a:prstGeom>
        </p:spPr>
      </p:pic>
      <p:sp>
        <p:nvSpPr>
          <p:cNvPr id="415" name="Text 12"/>
          <p:cNvSpPr/>
          <p:nvPr/>
        </p:nvSpPr>
        <p:spPr>
          <a:xfrm>
            <a:off x="964692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带教导师 Agent</a:t>
            </a:r>
            <a:endParaRPr lang="en-US" sz="1600" dirty="0"/>
          </a:p>
        </p:txBody>
      </p:sp>
      <p:sp>
        <p:nvSpPr>
          <p:cNvPr id="416" name="Text 13"/>
          <p:cNvSpPr/>
          <p:nvPr/>
        </p:nvSpPr>
        <p:spPr>
          <a:xfrm>
            <a:off x="8732520" y="3063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tutor_spc/aps/help 引导不代做，基于真实状态个性化提示。</a:t>
            </a:r>
            <a:endParaRPr lang="en-US" sz="1300" dirty="0"/>
          </a:p>
        </p:txBody>
      </p:sp>
      <p:sp>
        <p:nvSpPr>
          <p:cNvPr id="417" name="Shape 14"/>
          <p:cNvSpPr/>
          <p:nvPr/>
        </p:nvSpPr>
        <p:spPr>
          <a:xfrm>
            <a:off x="640080" y="4526280"/>
            <a:ext cx="10881360" cy="15544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p/>
        </p:txBody>
      </p:sp>
      <p:sp>
        <p:nvSpPr>
          <p:cNvPr id="418" name="Shape 15"/>
          <p:cNvSpPr/>
          <p:nvPr/>
        </p:nvSpPr>
        <p:spPr>
          <a:xfrm>
            <a:off x="640080" y="4526280"/>
            <a:ext cx="10881360" cy="9144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p/>
        </p:txBody>
      </p:sp>
      <p:sp>
        <p:nvSpPr>
          <p:cNvPr id="419" name="Text 16"/>
          <p:cNvSpPr/>
          <p:nvPr/>
        </p:nvSpPr>
        <p:spPr>
          <a:xfrm>
            <a:off x="1188720" y="4754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420" name="Text 17"/>
          <p:cNvSpPr/>
          <p:nvPr/>
        </p:nvSpPr>
        <p:spPr>
          <a:xfrm>
            <a:off x="1188720" y="5532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内置实验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拦截 CD 漂移 / APS 缓解瓶颈</a:t>
            </a:r>
            <a:endParaRPr lang="en-US" sz="1100" dirty="0"/>
          </a:p>
        </p:txBody>
      </p:sp>
      <p:sp>
        <p:nvSpPr>
          <p:cNvPr id="421" name="Text 18"/>
          <p:cNvSpPr/>
          <p:nvPr/>
        </p:nvSpPr>
        <p:spPr>
          <a:xfrm>
            <a:off x="4800600" y="4754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000" dirty="0"/>
          </a:p>
        </p:txBody>
      </p:sp>
      <p:sp>
        <p:nvSpPr>
          <p:cNvPr id="422" name="Text 19"/>
          <p:cNvSpPr/>
          <p:nvPr/>
        </p:nvSpPr>
        <p:spPr>
          <a:xfrm>
            <a:off x="4800600" y="5532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 标准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E10/E30/E37/E87/C3/C5 工艺库</a:t>
            </a:r>
            <a:endParaRPr lang="en-US" sz="1100" dirty="0"/>
          </a:p>
        </p:txBody>
      </p:sp>
      <p:sp>
        <p:nvSpPr>
          <p:cNvPr id="423" name="Text 20"/>
          <p:cNvSpPr/>
          <p:nvPr/>
        </p:nvSpPr>
        <p:spPr>
          <a:xfrm>
            <a:off x="8412480" y="4754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424" name="Text 21"/>
          <p:cNvSpPr/>
          <p:nvPr/>
        </p:nvSpPr>
        <p:spPr>
          <a:xfrm>
            <a:off x="8412480" y="5532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代做写操作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导师只提示，绝不调 inject/sim</a:t>
            </a:r>
            <a:endParaRPr lang="en-US" sz="1100" dirty="0"/>
          </a:p>
        </p:txBody>
      </p:sp>
      <p:sp>
        <p:nvSpPr>
          <p:cNvPr id="425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426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10">
    <p:bg>
      <p:bgPr>
        <a:solidFill>
          <a:srgbClr val="F4F7FB"/>
        </a:solidFill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L3 · PROFESSIONAL</a:t>
            </a:r>
            <a:endParaRPr lang="en-US" sz="1300" dirty="0"/>
          </a:p>
        </p:txBody>
      </p:sp>
      <p:sp>
        <p:nvSpPr>
          <p:cNvPr id="12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专业级：工业可用的智能底座</a:t>
            </a:r>
            <a:endParaRPr lang="en-US" sz="3000" dirty="0"/>
          </a:p>
        </p:txBody>
      </p:sp>
      <p:sp>
        <p:nvSpPr>
          <p:cNvPr id="13" name="Shape 2"/>
          <p:cNvSpPr/>
          <p:nvPr/>
        </p:nvSpPr>
        <p:spPr>
          <a:xfrm>
            <a:off x="640080" y="169164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4" name="Shape 3"/>
          <p:cNvSpPr/>
          <p:nvPr/>
        </p:nvSpPr>
        <p:spPr>
          <a:xfrm>
            <a:off x="640080" y="1691640"/>
            <a:ext cx="91440" cy="1828800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15" name="Shape 4"/>
          <p:cNvSpPr/>
          <p:nvPr/>
        </p:nvSpPr>
        <p:spPr>
          <a:xfrm>
            <a:off x="960120" y="2057400"/>
            <a:ext cx="822960" cy="82296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90" y="2271370"/>
            <a:ext cx="395021" cy="395021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9659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微服务骨架</a:t>
            </a:r>
            <a:endParaRPr lang="en-US" sz="1700" dirty="0"/>
          </a:p>
        </p:txBody>
      </p:sp>
      <p:sp>
        <p:nvSpPr>
          <p:cNvPr id="18" name="Text 6"/>
          <p:cNvSpPr/>
          <p:nvPr/>
        </p:nvSpPr>
        <p:spPr>
          <a:xfrm>
            <a:off x="1965960" y="24414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装配器 + MQ 可插拔(NATS/Rabbit/Redis) + 服务发现 stub，按事件分发。</a:t>
            </a:r>
            <a:endParaRPr lang="en-US" sz="1250" dirty="0"/>
          </a:p>
        </p:txBody>
      </p:sp>
      <p:sp>
        <p:nvSpPr>
          <p:cNvPr id="19" name="Shape 7"/>
          <p:cNvSpPr/>
          <p:nvPr/>
        </p:nvSpPr>
        <p:spPr>
          <a:xfrm>
            <a:off x="6309360" y="169164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0" name="Shape 8"/>
          <p:cNvSpPr/>
          <p:nvPr/>
        </p:nvSpPr>
        <p:spPr>
          <a:xfrm>
            <a:off x="6309360" y="1691640"/>
            <a:ext cx="91440" cy="1828800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p/>
        </p:txBody>
      </p:sp>
      <p:sp>
        <p:nvSpPr>
          <p:cNvPr id="21" name="Shape 9"/>
          <p:cNvSpPr/>
          <p:nvPr/>
        </p:nvSpPr>
        <p:spPr>
          <a:xfrm>
            <a:off x="6629400" y="2057400"/>
            <a:ext cx="822960" cy="82296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370" y="2271370"/>
            <a:ext cx="395021" cy="395021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76352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标准协议适配</a:t>
            </a:r>
            <a:endParaRPr lang="en-US" sz="1700" dirty="0"/>
          </a:p>
        </p:txBody>
      </p:sp>
      <p:sp>
        <p:nvSpPr>
          <p:cNvPr id="24" name="Text 11"/>
          <p:cNvSpPr/>
          <p:nvPr/>
        </p:nvSpPr>
        <p:spPr>
          <a:xfrm>
            <a:off x="7635240" y="24414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 / EDA 适配器[蓝图态：默认 demo stub]，mapToEvent 经 emitEv 汇入统一事件流，env(ADAPTER_MODE) 切换演示/真实。</a:t>
            </a:r>
            <a:endParaRPr lang="en-US" sz="1250" dirty="0"/>
          </a:p>
        </p:txBody>
      </p:sp>
      <p:sp>
        <p:nvSpPr>
          <p:cNvPr id="25" name="Shape 12"/>
          <p:cNvSpPr/>
          <p:nvPr/>
        </p:nvSpPr>
        <p:spPr>
          <a:xfrm>
            <a:off x="640080" y="384048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26" name="Shape 13"/>
          <p:cNvSpPr/>
          <p:nvPr/>
        </p:nvSpPr>
        <p:spPr>
          <a:xfrm>
            <a:off x="640080" y="3840480"/>
            <a:ext cx="91440" cy="182880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>
            <a:off x="960120" y="4206240"/>
            <a:ext cx="822960" cy="82296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090" y="4420210"/>
            <a:ext cx="395021" cy="395021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96596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引擎算法深化</a:t>
            </a:r>
            <a:endParaRPr lang="en-US" sz="1700" dirty="0"/>
          </a:p>
        </p:txBody>
      </p:sp>
      <p:sp>
        <p:nvSpPr>
          <p:cNvPr id="30" name="Text 16"/>
          <p:cNvSpPr/>
          <p:nvPr/>
        </p:nvSpPr>
        <p:spPr>
          <a:xfrm>
            <a:off x="1965960" y="45902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WE1–6 / PCA 马氏距离 / RUL 退化 / 线性回归 / ILP 近似求解，真实内核替代启发式。</a:t>
            </a:r>
            <a:endParaRPr lang="en-US" sz="1250" dirty="0"/>
          </a:p>
        </p:txBody>
      </p:sp>
      <p:sp>
        <p:nvSpPr>
          <p:cNvPr id="31" name="Shape 17"/>
          <p:cNvSpPr/>
          <p:nvPr/>
        </p:nvSpPr>
        <p:spPr>
          <a:xfrm>
            <a:off x="6309360" y="384048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32" name="Shape 18"/>
          <p:cNvSpPr/>
          <p:nvPr/>
        </p:nvSpPr>
        <p:spPr>
          <a:xfrm>
            <a:off x="6309360" y="3840480"/>
            <a:ext cx="91440" cy="1828800"/>
          </a:xfrm>
          <a:prstGeom prst="rect">
            <a:avLst/>
          </a:prstGeom>
          <a:solidFill>
            <a:srgbClr val="2FB36B"/>
          </a:solidFill>
          <a:ln/>
        </p:spPr>
        <p:txBody>
          <a:bodyPr/>
          <a:p/>
        </p:txBody>
      </p:sp>
      <p:sp>
        <p:nvSpPr>
          <p:cNvPr id="33" name="Shape 19"/>
          <p:cNvSpPr/>
          <p:nvPr/>
        </p:nvSpPr>
        <p:spPr>
          <a:xfrm>
            <a:off x="6629400" y="4206240"/>
            <a:ext cx="822960" cy="82296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370" y="4420210"/>
            <a:ext cx="395021" cy="395021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763524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协作副驾</a:t>
            </a:r>
            <a:endParaRPr lang="en-US" sz="1700" dirty="0"/>
          </a:p>
        </p:txBody>
      </p:sp>
      <p:sp>
        <p:nvSpPr>
          <p:cNvPr id="36" name="Text 21"/>
          <p:cNvSpPr/>
          <p:nvPr/>
        </p:nvSpPr>
        <p:spPr>
          <a:xfrm>
            <a:off x="7635240" y="45902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copilot_rootcause/bottleneck/action/deep：根因 + 处置建议 + 工单草稿，只分析不写库。</a:t>
            </a:r>
            <a:endParaRPr lang="en-US" sz="1250" dirty="0"/>
          </a:p>
        </p:txBody>
      </p:sp>
      <p:sp>
        <p:nvSpPr>
          <p:cNvPr id="37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38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 name="Slide 11">
    <p:bg>
      <p:bgPr>
        <a:solidFill>
          <a:srgbClr val="FFFFFF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635000" y="406400"/>
            <a:ext cx="10058400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16B8A6"/>
                </a:solidFill>
                <a:latin typeface="Trebuchet MS"/>
                <a:ea typeface="Trebuchet MS"/>
              </a:rPr>
              <a:t>DIGITAL THREAD · 数字主线</a:t>
            </a:r>
            <a:endParaRPr/>
          </a:p>
        </p:txBody>
      </p:sp>
      <p:sp>
        <p:nvSpPr>
          <p:cNvPr id="41" name=""/>
          <p:cNvSpPr/>
          <p:nvPr/>
        </p:nvSpPr>
        <p:spPr>
          <a:xfrm>
            <a:off x="635000" y="7112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>
                <a:solidFill>
                  <a:srgbClr val="0B1F3A"/>
                </a:solidFill>
                <a:latin typeface="Trebuchet MS"/>
                <a:ea typeface="Trebuchet MS"/>
              </a:rPr>
              <a:t>一条数字主线，焊通 OTD 全生命周期</a:t>
            </a:r>
            <a:endParaRPr/>
          </a:p>
        </p:txBody>
      </p:sp>
      <p:sp>
        <p:nvSpPr>
          <p:cNvPr id="42" name=""/>
          <p:cNvSpPr/>
          <p:nvPr/>
        </p:nvSpPr>
        <p:spPr>
          <a:xfrm>
            <a:off x="6604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2E6FD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① 接单 SO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ERP · :8126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销售订单驱动</a:t>
            </a:r>
            <a:endParaRPr/>
          </a:p>
        </p:txBody>
      </p:sp>
      <p:sp>
        <p:nvSpPr>
          <p:cNvPr id="43" name=""/>
          <p:cNvSpPr/>
          <p:nvPr/>
        </p:nvSpPr>
        <p:spPr>
          <a:xfrm>
            <a:off x="22352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16B8A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② EAP 执行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EAP · :8125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SECS/GEM 设备</a:t>
            </a:r>
            <a:endParaRPr/>
          </a:p>
        </p:txBody>
      </p:sp>
      <p:sp>
        <p:nvSpPr>
          <p:cNvPr id="44" name=""/>
          <p:cNvSpPr/>
          <p:nvPr/>
        </p:nvSpPr>
        <p:spPr>
          <a:xfrm>
            <a:off x="38100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16B8A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③ MES 量测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MES · :8124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WIP/工艺采集</a:t>
            </a:r>
            <a:endParaRPr/>
          </a:p>
        </p:txBody>
      </p:sp>
      <p:sp>
        <p:nvSpPr>
          <p:cNvPr id="45" name=""/>
          <p:cNvSpPr/>
          <p:nvPr/>
        </p:nvSpPr>
        <p:spPr>
          <a:xfrm>
            <a:off x="53848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F2B544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④ 判异 SPC·FDC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五大引擎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实时质量判异</a:t>
            </a:r>
            <a:endParaRPr/>
          </a:p>
        </p:txBody>
      </p:sp>
      <p:sp>
        <p:nvSpPr>
          <p:cNvPr id="46" name=""/>
          <p:cNvSpPr/>
          <p:nvPr/>
        </p:nvSpPr>
        <p:spPr>
          <a:xfrm>
            <a:off x="69596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2E6FD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⑤ 数字孪生
twin3d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实时镜像映射</a:t>
            </a:r>
            <a:endParaRPr/>
          </a:p>
        </p:txBody>
      </p:sp>
      <p:sp>
        <p:nvSpPr>
          <p:cNvPr id="47" name=""/>
          <p:cNvSpPr/>
          <p:nvPr/>
        </p:nvSpPr>
        <p:spPr>
          <a:xfrm>
            <a:off x="85344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F2B544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⑥ 领料·成本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ERP · :8126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物料/财务闭环</a:t>
            </a:r>
            <a:endParaRPr/>
          </a:p>
        </p:txBody>
      </p:sp>
      <p:sp>
        <p:nvSpPr>
          <p:cNvPr id="48" name=""/>
          <p:cNvSpPr/>
          <p:nvPr/>
        </p:nvSpPr>
        <p:spPr>
          <a:xfrm>
            <a:off x="101092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E5573E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⑦ Agent 问答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Agent · :8127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五大引擎编排</a:t>
            </a:r>
            <a:endParaRPr/>
          </a:p>
        </p:txBody>
      </p:sp>
      <p:sp>
        <p:nvSpPr>
          <p:cNvPr id="49" name=""/>
          <p:cNvSpPr/>
          <p:nvPr/>
        </p:nvSpPr>
        <p:spPr>
          <a:xfrm>
            <a:off x="660400" y="3962400"/>
            <a:ext cx="10871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B1F3A"/>
                </a:solidFill>
                <a:latin typeface="Calibri"/>
                <a:ea typeface="Calibri"/>
              </a:rPr>
              <a:t>↑ 七大环节全部订阅唯一的 MES WS 事件源（:8124），事件不落地、不断链 —— 这就是数字主线</a:t>
            </a:r>
            <a:endParaRPr/>
          </a:p>
        </p:txBody>
      </p:sp>
      <p:sp>
        <p:nvSpPr>
          <p:cNvPr id="50" name=""/>
          <p:cNvSpPr/>
          <p:nvPr/>
        </p:nvSpPr>
        <p:spPr>
          <a:xfrm>
            <a:off x="660400" y="4419600"/>
            <a:ext cx="108712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B6B7E"/>
                </a:solidFill>
                <a:latin typeface="Calibri"/>
                <a:ea typeface="Calibri"/>
              </a:rPr>
              <a:t>APC / VM / APS 实时订阅五大引擎，经 S2F41 回灌设备；Agent 跨引擎 + OTD 实时编排。</a:t>
            </a:r>
            <a:endParaRPr/>
          </a:p>
          <a:p>
            <a:pPr/>
            <a:r>
              <a:rPr lang="zh-CN" sz="1100">
                <a:solidFill>
                  <a:srgbClr val="5B6B7E"/>
                </a:solidFill>
                <a:latin typeface="Calibri"/>
                <a:ea typeface="Calibri"/>
              </a:rPr>
              <a:t>投料 → 执行 → 量测 → 判异 → 孪生 → 成本 → 问答，一盘棋贯通。</a:t>
            </a:r>
            <a:endParaRPr/>
          </a:p>
        </p:txBody>
      </p:sp>
      <p:sp>
        <p:nvSpPr>
          <p:cNvPr id="51" name=""/>
          <p:cNvSpPr/>
          <p:nvPr/>
        </p:nvSpPr>
        <p:spPr>
          <a:xfrm>
            <a:off x="660400" y="3784600"/>
            <a:ext cx="10871200" cy="101600"/>
          </a:xfrm>
          <a:prstGeom prst="rect">
            <a:avLst/>
          </a:prstGeom>
          <a:solidFill>
            <a:srgbClr val="16B8A6"/>
          </a:solidFill>
          <a:ln>
            <a:noFill/>
          </a:ln>
        </p:spPr>
        <p:txBody>
          <a:bodyPr/>
          <a:p/>
        </p:txBody>
      </p:sp>
      <p:sp>
        <p:nvSpPr>
          <p:cNvPr id="52" name=""/>
          <p:cNvSpPr/>
          <p:nvPr/>
        </p:nvSpPr>
        <p:spPr>
          <a:xfrm>
            <a:off x="20828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"/>
          <p:cNvSpPr/>
          <p:nvPr/>
        </p:nvSpPr>
        <p:spPr>
          <a:xfrm>
            <a:off x="36576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"/>
          <p:cNvSpPr/>
          <p:nvPr/>
        </p:nvSpPr>
        <p:spPr>
          <a:xfrm>
            <a:off x="52324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>
            <a:off x="68072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"/>
          <p:cNvSpPr/>
          <p:nvPr/>
        </p:nvSpPr>
        <p:spPr>
          <a:xfrm>
            <a:off x="83820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7" name=""/>
          <p:cNvSpPr/>
          <p:nvPr/>
        </p:nvSpPr>
        <p:spPr>
          <a:xfrm>
            <a:off x="99568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" name=""/>
          <p:cNvSpPr/>
          <p:nvPr/>
        </p:nvSpPr>
        <p:spPr>
          <a:xfrm>
            <a:off x="635000" y="406400"/>
            <a:ext cx="10058400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16B8A6"/>
                </a:solidFill>
                <a:latin typeface="Trebuchet MS"/>
                <a:ea typeface="Trebuchet MS"/>
              </a:rPr>
              <a:t>NPI THREAD · 设计到流片</a:t>
            </a:r>
            <a:endParaRPr/>
          </a:p>
        </p:txBody>
      </p:sp>
      <p:sp>
        <p:nvSpPr>
          <p:cNvPr id="41" name=""/>
          <p:cNvSpPr/>
          <p:nvPr/>
        </p:nvSpPr>
        <p:spPr>
          <a:xfrm>
            <a:off x="635000" y="7112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>
                <a:solidFill>
                  <a:srgbClr val="0B1F3A"/>
                </a:solidFill>
                <a:latin typeface="Trebuchet MS"/>
                <a:ea typeface="Trebuchet MS"/>
              </a:rPr>
              <a:t>一条 NPI 主线，焊通设计 → 流片全生命周期</a:t>
            </a:r>
            <a:endParaRPr/>
          </a:p>
        </p:txBody>
      </p:sp>
      <p:sp>
        <p:nvSpPr>
          <p:cNvPr id="42" name=""/>
          <p:cNvSpPr/>
          <p:nvPr/>
        </p:nvSpPr>
        <p:spPr>
          <a:xfrm>
            <a:off x="6604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2E6FD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① 设计档案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MES · DB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GDSII·PDK 主数据</a:t>
            </a:r>
            <a:endParaRPr/>
          </a:p>
        </p:txBody>
      </p:sp>
      <p:sp>
        <p:nvSpPr>
          <p:cNvPr id="43" name=""/>
          <p:cNvSpPr/>
          <p:nvPr/>
        </p:nvSpPr>
        <p:spPr>
          <a:xfrm>
            <a:off x="22352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16B8A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② 光罩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photomasks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层数→passes 派生</a:t>
            </a:r>
            <a:endParaRPr/>
          </a:p>
        </p:txBody>
      </p:sp>
      <p:sp>
        <p:nvSpPr>
          <p:cNvPr id="44" name=""/>
          <p:cNvSpPr/>
          <p:nvPr/>
        </p:nvSpPr>
        <p:spPr>
          <a:xfrm>
            <a:off x="38100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16B8A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③ 工程批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engineering WO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NPI 一键投放</a:t>
            </a:r>
            <a:endParaRPr/>
          </a:p>
        </p:txBody>
      </p:sp>
      <p:sp>
        <p:nvSpPr>
          <p:cNvPr id="45" name=""/>
          <p:cNvSpPr/>
          <p:nvPr/>
        </p:nvSpPr>
        <p:spPr>
          <a:xfrm>
            <a:off x="53848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F2B544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④ 流片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tapeout WO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首跑+qualification 重入</a:t>
            </a:r>
            <a:endParaRPr/>
          </a:p>
        </p:txBody>
      </p:sp>
      <p:sp>
        <p:nvSpPr>
          <p:cNvPr id="46" name=""/>
          <p:cNvSpPr/>
          <p:nvPr/>
        </p:nvSpPr>
        <p:spPr>
          <a:xfrm>
            <a:off x="69596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2E6FD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⑤ MES 主轴量测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MES · :8124</a:t>
            </a:r>
            <a:endParaRPr/>
          </a:p>
          <a:p>
            <a:r>
              <a:t>与 OTD 同引擎</a:t>
            </a:r>
          </a:p>
        </p:txBody>
      </p:sp>
      <p:sp>
        <p:nvSpPr>
          <p:cNvPr id="47" name=""/>
          <p:cNvSpPr/>
          <p:nvPr/>
        </p:nvSpPr>
        <p:spPr>
          <a:xfrm>
            <a:off x="85344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F2B544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⑥ 判异 SPC·FDC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五大引擎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实时质量判异</a:t>
            </a:r>
            <a:endParaRPr/>
          </a:p>
        </p:txBody>
      </p:sp>
      <p:sp>
        <p:nvSpPr>
          <p:cNvPr id="48" name=""/>
          <p:cNvSpPr/>
          <p:nvPr/>
        </p:nvSpPr>
        <p:spPr>
          <a:xfrm>
            <a:off x="101092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E5573E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⑦ 转量产 ramp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并入 OTD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设计→交付闭环</a:t>
            </a:r>
            <a:endParaRPr/>
          </a:p>
        </p:txBody>
      </p:sp>
      <p:sp>
        <p:nvSpPr>
          <p:cNvPr id="49" name=""/>
          <p:cNvSpPr/>
          <p:nvPr/>
        </p:nvSpPr>
        <p:spPr>
          <a:xfrm>
            <a:off x="660400" y="3962400"/>
            <a:ext cx="10871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B1F3A"/>
                </a:solidFill>
                <a:latin typeface="Calibri"/>
                <a:ea typeface="Calibri"/>
              </a:rPr>
              <a:t>↑ NPI 与 OTD 共享同一条 MES WS 事件总线（:8124）：design→route 自动派生，工程批/流片批沿同一产线推进。</a:t>
            </a:r>
            <a:endParaRPr/>
          </a:p>
        </p:txBody>
      </p:sp>
      <p:sp>
        <p:nvSpPr>
          <p:cNvPr id="50" name=""/>
          <p:cNvSpPr/>
          <p:nvPr/>
        </p:nvSpPr>
        <p:spPr>
          <a:xfrm>
            <a:off x="660400" y="4419600"/>
            <a:ext cx="108712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B6B7E"/>
                </a:solidFill>
                <a:latin typeface="Calibri"/>
                <a:ea typeface="Calibri"/>
              </a:rPr>
              <a:t>npi-ops.html 统一管理台：设计档案 / 光罩 / 工程批 / 流片批，一键投放，状态实时可见。</a:t>
            </a:r>
            <a:endParaRPr/>
          </a:p>
        </p:txBody>
      </p:sp>
      <p:sp>
        <p:nvSpPr>
          <p:cNvPr id="51" name=""/>
          <p:cNvSpPr/>
          <p:nvPr/>
        </p:nvSpPr>
        <p:spPr>
          <a:xfrm>
            <a:off x="660400" y="3784600"/>
            <a:ext cx="10871200" cy="101600"/>
          </a:xfrm>
          <a:prstGeom prst="rect">
            <a:avLst/>
          </a:prstGeom>
          <a:solidFill>
            <a:srgbClr val="16B8A6"/>
          </a:solidFill>
          <a:ln>
            <a:noFill/>
          </a:ln>
        </p:spPr>
        <p:txBody>
          <a:bodyPr/>
          <a:p/>
        </p:txBody>
      </p:sp>
      <p:sp>
        <p:nvSpPr>
          <p:cNvPr id="52" name=""/>
          <p:cNvSpPr/>
          <p:nvPr/>
        </p:nvSpPr>
        <p:spPr>
          <a:xfrm>
            <a:off x="20828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"/>
          <p:cNvSpPr/>
          <p:nvPr/>
        </p:nvSpPr>
        <p:spPr>
          <a:xfrm>
            <a:off x="36576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"/>
          <p:cNvSpPr/>
          <p:nvPr/>
        </p:nvSpPr>
        <p:spPr>
          <a:xfrm>
            <a:off x="52324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>
            <a:off x="68072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"/>
          <p:cNvSpPr/>
          <p:nvPr/>
        </p:nvSpPr>
        <p:spPr>
          <a:xfrm>
            <a:off x="83820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7" name=""/>
          <p:cNvSpPr/>
          <p:nvPr/>
        </p:nvSpPr>
        <p:spPr>
          <a:xfrm>
            <a:off x="99568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12">
    <p:bg>
      <p:bgPr>
        <a:solidFill>
          <a:srgbClr val="F4F7FB"/>
        </a:solidFill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TWIN · 数字孪生</a:t>
            </a:r>
            <a:endParaRPr lang="en-US" sz="1300" dirty="0"/>
          </a:p>
        </p:txBody>
      </p:sp>
      <p:sp>
        <p:nvSpPr>
          <p:cNvPr id="60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三级孪生 + 仿真：设备/产线/全厂实时镜像，叠加 what-if 推演</a:t>
            </a:r>
            <a:endParaRPr lang="en-US" sz="3000" b="1" dirty="0">
              <a:solidFill>
                <a:srgbClr val="0B1F3A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640080" y="1828800"/>
            <a:ext cx="260604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6B8A6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2" name="Shape 3"/>
          <p:cNvSpPr/>
          <p:nvPr/>
        </p:nvSpPr>
        <p:spPr>
          <a:xfrm>
            <a:off x="1485900" y="2148840"/>
            <a:ext cx="914400" cy="91440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6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44" y="2386584"/>
            <a:ext cx="438912" cy="438912"/>
          </a:xfrm>
          <a:prstGeom prst="rect">
            <a:avLst/>
          </a:prstGeom>
        </p:spPr>
      </p:pic>
      <p:sp>
        <p:nvSpPr>
          <p:cNvPr id="64" name="Text 4"/>
          <p:cNvSpPr/>
          <p:nvPr/>
        </p:nvSpPr>
        <p:spPr>
          <a:xfrm>
            <a:off x="77724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装备级</a:t>
            </a:r>
            <a:endParaRPr lang="en-US" sz="1700" dirty="0"/>
          </a:p>
        </p:txBody>
      </p:sp>
      <p:sp>
        <p:nvSpPr>
          <p:cNvPr id="65" name="Text 5"/>
          <p:cNvSpPr/>
          <p:nvPr/>
        </p:nvSpPr>
        <p:spPr>
          <a:xfrm>
            <a:off x="86868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twin.html：实时状态 + SPC 报警联动</a:t>
            </a:r>
            <a:endParaRPr lang="en-US" sz="1200" dirty="0"/>
          </a:p>
        </p:txBody>
      </p:sp>
      <p:sp>
        <p:nvSpPr>
          <p:cNvPr id="66" name="Shape 6"/>
          <p:cNvSpPr/>
          <p:nvPr/>
        </p:nvSpPr>
        <p:spPr>
          <a:xfrm>
            <a:off x="3611880" y="1828800"/>
            <a:ext cx="260604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FD6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7" name="Shape 7"/>
          <p:cNvSpPr/>
          <p:nvPr/>
        </p:nvSpPr>
        <p:spPr>
          <a:xfrm>
            <a:off x="4457700" y="2148840"/>
            <a:ext cx="914400" cy="91440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444" y="2386584"/>
            <a:ext cx="438912" cy="438912"/>
          </a:xfrm>
          <a:prstGeom prst="rect">
            <a:avLst/>
          </a:prstGeom>
        </p:spPr>
      </p:pic>
      <p:sp>
        <p:nvSpPr>
          <p:cNvPr id="69" name="Text 8"/>
          <p:cNvSpPr/>
          <p:nvPr/>
        </p:nvSpPr>
        <p:spPr>
          <a:xfrm>
            <a:off x="374904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产线级</a:t>
            </a:r>
            <a:endParaRPr lang="en-US" sz="1700" dirty="0"/>
          </a:p>
        </p:txBody>
      </p:sp>
      <p:sp>
        <p:nvSpPr>
          <p:cNvPr id="70" name="Text 9"/>
          <p:cNvSpPr/>
          <p:nvPr/>
        </p:nvSpPr>
        <p:spPr>
          <a:xfrm>
            <a:off x="384048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line-twin.html：拓扑/负荷热力/瓶颈识别</a:t>
            </a:r>
            <a:endParaRPr lang="en-US" sz="1200" dirty="0"/>
          </a:p>
        </p:txBody>
      </p:sp>
      <p:sp>
        <p:nvSpPr>
          <p:cNvPr id="71" name="Shape 10"/>
          <p:cNvSpPr/>
          <p:nvPr/>
        </p:nvSpPr>
        <p:spPr>
          <a:xfrm>
            <a:off x="6583680" y="1828800"/>
            <a:ext cx="260604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F2B544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2" name="Shape 11"/>
          <p:cNvSpPr/>
          <p:nvPr/>
        </p:nvSpPr>
        <p:spPr>
          <a:xfrm>
            <a:off x="7429500" y="2148840"/>
            <a:ext cx="914400" cy="91440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7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244" y="2386584"/>
            <a:ext cx="438912" cy="438912"/>
          </a:xfrm>
          <a:prstGeom prst="rect">
            <a:avLst/>
          </a:prstGeom>
        </p:spPr>
      </p:pic>
      <p:sp>
        <p:nvSpPr>
          <p:cNvPr id="74" name="Text 12"/>
          <p:cNvSpPr/>
          <p:nvPr/>
        </p:nvSpPr>
        <p:spPr>
          <a:xfrm>
            <a:off x="672084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工厂级</a:t>
            </a:r>
            <a:endParaRPr lang="en-US" sz="1700" dirty="0"/>
          </a:p>
        </p:txBody>
      </p:sp>
      <p:sp>
        <p:nvSpPr>
          <p:cNvPr id="75" name="Text 13"/>
          <p:cNvSpPr/>
          <p:nvPr/>
        </p:nvSpPr>
        <p:spPr>
          <a:xfrm>
            <a:off x="681228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fab-twin.html：厂级 KPI + AMHS 物流动画</a:t>
            </a:r>
            <a:endParaRPr lang="en-US" sz="1200" dirty="0"/>
          </a:p>
        </p:txBody>
      </p:sp>
      <p:sp>
        <p:nvSpPr>
          <p:cNvPr id="76" name="Shape 14"/>
          <p:cNvSpPr/>
          <p:nvPr/>
        </p:nvSpPr>
        <p:spPr>
          <a:xfrm>
            <a:off x="9555480" y="1828800"/>
            <a:ext cx="260604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FB36B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7" name="Shape 15"/>
          <p:cNvSpPr/>
          <p:nvPr/>
        </p:nvSpPr>
        <p:spPr>
          <a:xfrm>
            <a:off x="10401300" y="2148840"/>
            <a:ext cx="914400" cy="91440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p/>
        </p:txBody>
      </p:sp>
      <p:pic>
        <p:nvPicPr>
          <p:cNvPr id="7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9044" y="2386584"/>
            <a:ext cx="438912" cy="438912"/>
          </a:xfrm>
          <a:prstGeom prst="rect">
            <a:avLst/>
          </a:prstGeom>
        </p:spPr>
      </p:pic>
      <p:sp>
        <p:nvSpPr>
          <p:cNvPr id="79" name="Text 16"/>
          <p:cNvSpPr/>
          <p:nvPr/>
        </p:nvSpPr>
        <p:spPr>
          <a:xfrm>
            <a:off x="969264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仿真</a:t>
            </a:r>
            <a:endParaRPr lang="en-US" sz="1700" dirty="0"/>
          </a:p>
        </p:txBody>
      </p:sp>
      <p:sp>
        <p:nvSpPr>
          <p:cNvPr id="80" name="Text 17"/>
          <p:cNvSpPr/>
          <p:nvPr/>
        </p:nvSpPr>
        <p:spPr>
          <a:xfrm>
            <a:off x="978408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sim.html：what-if 产能推演，只读快照重算</a:t>
            </a:r>
            <a:endParaRPr lang="en-US" sz="1200" dirty="0"/>
          </a:p>
        </p:txBody>
      </p:sp>
      <p:sp>
        <p:nvSpPr>
          <p:cNvPr id="81" name="Text 18"/>
          <p:cNvSpPr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全部订阅唯一的 WS 事件源 (:8124)，与 MES/Agent 同源、实时、零延迟。</a:t>
            </a:r>
            <a:endParaRPr lang="en-US" sz="1400" dirty="0"/>
          </a:p>
        </p:txBody>
      </p:sp>
      <p:sp>
        <p:nvSpPr>
          <p:cNvPr id="82" name="Text 19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另有 3D 物理工厂孪生（twin3d/，Three.js + glTF）已并入门户统一托管，与以上 2D 实时监控互为补充：2D 用于运维监控与报警联动，3D 用于物理布局与对外演示。</a:t>
            </a:r>
            <a:endParaRPr lang="en-US" sz="1200" dirty="0"/>
          </a:p>
        </p:txBody>
      </p:sp>
      <p:sp>
        <p:nvSpPr>
          <p:cNvPr id="83" name="Shape 20"/>
          <p:cNvSpPr/>
          <p:nvPr/>
        </p:nvSpPr>
        <p:spPr>
          <a:xfrm>
            <a:off x="640080" y="53949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</p:spPr>
        <p:txBody>
          <a:bodyPr/>
          <a:p/>
        </p:txBody>
      </p:sp>
      <p:sp>
        <p:nvSpPr>
          <p:cNvPr id="84" name="Text 21"/>
          <p:cNvSpPr/>
          <p:nvPr/>
        </p:nvSpPr>
        <p:spPr>
          <a:xfrm>
            <a:off x="640080" y="5468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85" name="Text 22"/>
          <p:cNvSpPr/>
          <p:nvPr/>
        </p:nvSpPr>
        <p:spPr>
          <a:xfrm>
            <a:off x="640080" y="5870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条产线俯视</a:t>
            </a:r>
            <a:endParaRPr lang="en-US" sz="1100" dirty="0"/>
          </a:p>
        </p:txBody>
      </p:sp>
      <p:sp>
        <p:nvSpPr>
          <p:cNvPr id="86" name="Shape 23"/>
          <p:cNvSpPr/>
          <p:nvPr/>
        </p:nvSpPr>
        <p:spPr>
          <a:xfrm>
            <a:off x="3383280" y="53949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</p:spPr>
        <p:txBody>
          <a:bodyPr/>
          <a:p/>
        </p:txBody>
      </p:sp>
      <p:sp>
        <p:nvSpPr>
          <p:cNvPr id="87" name="Text 24"/>
          <p:cNvSpPr/>
          <p:nvPr/>
        </p:nvSpPr>
        <p:spPr>
          <a:xfrm>
            <a:off x="3383280" y="5468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</a:t>
            </a:r>
            <a:endParaRPr lang="en-US" sz="1800" dirty="0"/>
          </a:p>
        </p:txBody>
      </p:sp>
      <p:sp>
        <p:nvSpPr>
          <p:cNvPr id="88" name="Text 25"/>
          <p:cNvSpPr/>
          <p:nvPr/>
        </p:nvSpPr>
        <p:spPr>
          <a:xfrm>
            <a:off x="3383280" y="5870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台设备点阵</a:t>
            </a:r>
            <a:endParaRPr lang="en-US" sz="1100" dirty="0"/>
          </a:p>
        </p:txBody>
      </p:sp>
      <p:sp>
        <p:nvSpPr>
          <p:cNvPr id="89" name="Shape 26"/>
          <p:cNvSpPr/>
          <p:nvPr/>
        </p:nvSpPr>
        <p:spPr>
          <a:xfrm>
            <a:off x="6126480" y="53949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</p:spPr>
        <p:txBody>
          <a:bodyPr/>
          <a:p/>
        </p:txBody>
      </p:sp>
      <p:sp>
        <p:nvSpPr>
          <p:cNvPr id="90" name="Text 27"/>
          <p:cNvSpPr/>
          <p:nvPr/>
        </p:nvSpPr>
        <p:spPr>
          <a:xfrm>
            <a:off x="6126480" y="5468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AMHS</a:t>
            </a:r>
            <a:endParaRPr lang="en-US" sz="1800" dirty="0"/>
          </a:p>
        </p:txBody>
      </p:sp>
      <p:sp>
        <p:nvSpPr>
          <p:cNvPr id="91" name="Text 28"/>
          <p:cNvSpPr/>
          <p:nvPr/>
        </p:nvSpPr>
        <p:spPr>
          <a:xfrm>
            <a:off x="6126480" y="5870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天车物流动画</a:t>
            </a:r>
            <a:endParaRPr lang="en-US" sz="1100" dirty="0"/>
          </a:p>
        </p:txBody>
      </p:sp>
      <p:sp>
        <p:nvSpPr>
          <p:cNvPr id="92" name="Shape 29"/>
          <p:cNvSpPr/>
          <p:nvPr/>
        </p:nvSpPr>
        <p:spPr>
          <a:xfrm>
            <a:off x="8869680" y="53949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</p:spPr>
        <p:txBody>
          <a:bodyPr/>
          <a:p/>
        </p:txBody>
      </p:sp>
      <p:sp>
        <p:nvSpPr>
          <p:cNvPr id="93" name="Text 30"/>
          <p:cNvSpPr/>
          <p:nvPr/>
        </p:nvSpPr>
        <p:spPr>
          <a:xfrm>
            <a:off x="8869680" y="5468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what-if</a:t>
            </a:r>
            <a:endParaRPr lang="en-US" sz="1800" dirty="0"/>
          </a:p>
        </p:txBody>
      </p:sp>
      <p:sp>
        <p:nvSpPr>
          <p:cNvPr id="94" name="Text 31"/>
          <p:cNvSpPr/>
          <p:nvPr/>
        </p:nvSpPr>
        <p:spPr>
          <a:xfrm>
            <a:off x="8869680" y="5870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产能仿真</a:t>
            </a:r>
            <a:endParaRPr lang="en-US" sz="1100" dirty="0"/>
          </a:p>
        </p:txBody>
      </p:sp>
      <p:sp>
        <p:nvSpPr>
          <p:cNvPr id="95" name="Text 3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96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13">
    <p:bg>
      <p:bgPr>
        <a:solidFill>
          <a:srgbClr val="0B1F3A"/>
        </a:solidFill>
      </p:bgPr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ARCHITECTURE · 技术架构</a:t>
            </a:r>
            <a:endParaRPr lang="en-US" sz="1300" dirty="0"/>
          </a:p>
        </p:txBody>
      </p:sp>
      <p:sp>
        <p:nvSpPr>
          <p:cNvPr id="99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六进程常驻 · 事件驱动 · 零 API 成本</a:t>
            </a:r>
            <a:endParaRPr lang="en-US" sz="2600" dirty="0"/>
          </a:p>
        </p:txBody>
      </p:sp>
      <p:sp>
        <p:nvSpPr>
          <p:cNvPr id="100" name="Shape 2"/>
          <p:cNvSpPr/>
          <p:nvPr/>
        </p:nvSpPr>
        <p:spPr>
          <a:xfrm>
            <a:off x="640080" y="1783080"/>
            <a:ext cx="2011680" cy="2011680"/>
          </a:xfrm>
          <a:prstGeom prst="rect">
            <a:avLst/>
          </a:prstGeom>
          <a:solidFill>
            <a:srgbClr val="11294D"/>
          </a:solidFill>
          <a:ln w="1524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101" name="Shape 3"/>
          <p:cNvSpPr/>
          <p:nvPr/>
        </p:nvSpPr>
        <p:spPr>
          <a:xfrm>
            <a:off x="640080" y="1783080"/>
            <a:ext cx="2011680" cy="640080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102" name="Text 4"/>
          <p:cNvSpPr/>
          <p:nvPr/>
        </p:nvSpPr>
        <p:spPr>
          <a:xfrm>
            <a:off x="64008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:8123</a:t>
            </a:r>
            <a:endParaRPr lang="en-US" sz="2200" dirty="0"/>
          </a:p>
        </p:txBody>
      </p:sp>
      <p:sp>
        <p:nvSpPr>
          <p:cNvPr id="103" name="Text 5"/>
          <p:cNvSpPr/>
          <p:nvPr/>
        </p:nvSpPr>
        <p:spPr>
          <a:xfrm>
            <a:off x="8229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 门户</a:t>
            </a:r>
            <a:endParaRPr lang="en-US" sz="1500" dirty="0"/>
          </a:p>
        </p:txBody>
      </p:sp>
      <p:sp>
        <p:nvSpPr>
          <p:cNvPr id="104" name="Text 6"/>
          <p:cNvSpPr/>
          <p:nvPr/>
        </p:nvSpPr>
        <p:spPr>
          <a:xfrm>
            <a:off x="82296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静态托管 console/twin/lab/agent/twin3d</a:t>
            </a:r>
            <a:endParaRPr lang="en-US" sz="1150" dirty="0"/>
          </a:p>
        </p:txBody>
      </p:sp>
      <p:sp>
        <p:nvSpPr>
          <p:cNvPr id="105" name="Shape 7"/>
          <p:cNvSpPr/>
          <p:nvPr/>
        </p:nvSpPr>
        <p:spPr>
          <a:xfrm>
            <a:off x="2926080" y="1783080"/>
            <a:ext cx="2011680" cy="2011680"/>
          </a:xfrm>
          <a:prstGeom prst="rect">
            <a:avLst/>
          </a:prstGeom>
          <a:solidFill>
            <a:srgbClr val="11294D"/>
          </a:solidFill>
          <a:ln w="15240">
            <a:solidFill>
              <a:srgbClr val="2E6FD6"/>
            </a:solidFill>
            <a:prstDash val="solid"/>
          </a:ln>
        </p:spPr>
        <p:txBody>
          <a:bodyPr/>
          <a:p/>
        </p:txBody>
      </p:sp>
      <p:sp>
        <p:nvSpPr>
          <p:cNvPr id="106" name="Shape 8"/>
          <p:cNvSpPr/>
          <p:nvPr/>
        </p:nvSpPr>
        <p:spPr>
          <a:xfrm>
            <a:off x="2926080" y="1783080"/>
            <a:ext cx="2011680" cy="640080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p/>
        </p:txBody>
      </p:sp>
      <p:sp>
        <p:nvSpPr>
          <p:cNvPr id="107" name="Text 9"/>
          <p:cNvSpPr/>
          <p:nvPr/>
        </p:nvSpPr>
        <p:spPr>
          <a:xfrm>
            <a:off x="292608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:8124</a:t>
            </a:r>
            <a:endParaRPr lang="en-US" sz="2200" dirty="0"/>
          </a:p>
        </p:txBody>
      </p:sp>
      <p:sp>
        <p:nvSpPr>
          <p:cNvPr id="108" name="Text 10"/>
          <p:cNvSpPr/>
          <p:nvPr/>
        </p:nvSpPr>
        <p:spPr>
          <a:xfrm>
            <a:off x="31089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 主进程</a:t>
            </a:r>
            <a:endParaRPr lang="en-US" sz="1500" dirty="0"/>
          </a:p>
        </p:txBody>
      </p:sp>
      <p:sp>
        <p:nvSpPr>
          <p:cNvPr id="109" name="Text 11"/>
          <p:cNvSpPr/>
          <p:nvPr/>
        </p:nvSpPr>
        <p:spPr>
          <a:xfrm>
            <a:off x="310896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WS 事件源 + SECS/GEM + 5 大引擎</a:t>
            </a:r>
            <a:endParaRPr lang="en-US" sz="1150" dirty="0"/>
          </a:p>
        </p:txBody>
      </p:sp>
      <p:sp>
        <p:nvSpPr>
          <p:cNvPr id="110" name="Shape 12"/>
          <p:cNvSpPr/>
          <p:nvPr/>
        </p:nvSpPr>
        <p:spPr>
          <a:xfrm>
            <a:off x="5212080" y="1783080"/>
            <a:ext cx="2011680" cy="2011680"/>
          </a:xfrm>
          <a:prstGeom prst="rect">
            <a:avLst/>
          </a:prstGeom>
          <a:solidFill>
            <a:srgbClr val="11294D"/>
          </a:solidFill>
          <a:ln w="1524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1" name="Shape 13"/>
          <p:cNvSpPr/>
          <p:nvPr/>
        </p:nvSpPr>
        <p:spPr>
          <a:xfrm>
            <a:off x="5212080" y="1783080"/>
            <a:ext cx="2011680" cy="6400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112" name="Text 14"/>
          <p:cNvSpPr/>
          <p:nvPr/>
        </p:nvSpPr>
        <p:spPr>
          <a:xfrm>
            <a:off x="521208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:8125</a:t>
            </a:r>
            <a:endParaRPr lang="en-US" sz="2200" dirty="0"/>
          </a:p>
        </p:txBody>
      </p:sp>
      <p:sp>
        <p:nvSpPr>
          <p:cNvPr id="113" name="Text 15"/>
          <p:cNvSpPr/>
          <p:nvPr/>
        </p:nvSpPr>
        <p:spPr>
          <a:xfrm>
            <a:off x="53949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EAP 网关</a:t>
            </a:r>
            <a:endParaRPr lang="en-US" sz="1500" dirty="0"/>
          </a:p>
        </p:txBody>
      </p:sp>
      <p:sp>
        <p:nvSpPr>
          <p:cNvPr id="114" name="Text 16"/>
          <p:cNvSpPr/>
          <p:nvPr/>
        </p:nvSpPr>
        <p:spPr>
          <a:xfrm>
            <a:off x="539496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SECS/GEM 设备协议，已纳入默认编排</a:t>
            </a:r>
            <a:endParaRPr lang="en-US" sz="1150" dirty="0"/>
          </a:p>
        </p:txBody>
      </p:sp>
      <p:sp>
        <p:nvSpPr>
          <p:cNvPr id="115" name="Shape 17"/>
          <p:cNvSpPr/>
          <p:nvPr/>
        </p:nvSpPr>
        <p:spPr>
          <a:xfrm>
            <a:off x="7498080" y="1783080"/>
            <a:ext cx="2011680" cy="2011680"/>
          </a:xfrm>
          <a:prstGeom prst="rect">
            <a:avLst/>
          </a:prstGeom>
          <a:solidFill>
            <a:srgbClr val="11294D"/>
          </a:solidFill>
          <a:ln w="15240">
            <a:solidFill>
              <a:srgbClr val="F2B544"/>
            </a:solidFill>
            <a:prstDash val="solid"/>
          </a:ln>
        </p:spPr>
        <p:txBody>
          <a:bodyPr/>
          <a:p/>
        </p:txBody>
      </p:sp>
      <p:sp>
        <p:nvSpPr>
          <p:cNvPr id="116" name="Shape 18"/>
          <p:cNvSpPr/>
          <p:nvPr/>
        </p:nvSpPr>
        <p:spPr>
          <a:xfrm>
            <a:off x="7498080" y="1783080"/>
            <a:ext cx="2011680" cy="64008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p/>
        </p:txBody>
      </p:sp>
      <p:sp>
        <p:nvSpPr>
          <p:cNvPr id="117" name="Text 19"/>
          <p:cNvSpPr/>
          <p:nvPr/>
        </p:nvSpPr>
        <p:spPr>
          <a:xfrm>
            <a:off x="749808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:8126</a:t>
            </a:r>
            <a:endParaRPr lang="en-US" sz="2200" dirty="0"/>
          </a:p>
        </p:txBody>
      </p:sp>
      <p:sp>
        <p:nvSpPr>
          <p:cNvPr id="118" name="Text 20"/>
          <p:cNvSpPr/>
          <p:nvPr/>
        </p:nvSpPr>
        <p:spPr>
          <a:xfrm>
            <a:off x="76809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ERP 进程</a:t>
            </a:r>
            <a:endParaRPr lang="en-US" sz="1500" dirty="0"/>
          </a:p>
        </p:txBody>
      </p:sp>
      <p:sp>
        <p:nvSpPr>
          <p:cNvPr id="119" name="Text 21"/>
          <p:cNvSpPr/>
          <p:nvPr/>
        </p:nvSpPr>
        <p:spPr>
          <a:xfrm>
            <a:off x="768096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物料/库存/成本/应收应付（含 in-proc 双模）</a:t>
            </a:r>
            <a:endParaRPr lang="en-US" sz="1150" dirty="0"/>
          </a:p>
        </p:txBody>
      </p:sp>
      <p:sp>
        <p:nvSpPr>
          <p:cNvPr id="120" name="Shape 22"/>
          <p:cNvSpPr/>
          <p:nvPr/>
        </p:nvSpPr>
        <p:spPr>
          <a:xfrm>
            <a:off x="9784080" y="1783080"/>
            <a:ext cx="2011680" cy="2011680"/>
          </a:xfrm>
          <a:prstGeom prst="rect">
            <a:avLst/>
          </a:prstGeom>
          <a:solidFill>
            <a:srgbClr val="11294D"/>
          </a:solidFill>
          <a:ln w="15240">
            <a:solidFill>
              <a:srgbClr val="2FB36B"/>
            </a:solidFill>
            <a:prstDash val="solid"/>
          </a:ln>
        </p:spPr>
        <p:txBody>
          <a:bodyPr/>
          <a:p/>
        </p:txBody>
      </p:sp>
      <p:sp>
        <p:nvSpPr>
          <p:cNvPr id="121" name="Shape 23"/>
          <p:cNvSpPr/>
          <p:nvPr/>
        </p:nvSpPr>
        <p:spPr>
          <a:xfrm>
            <a:off x="9784080" y="1783080"/>
            <a:ext cx="2011680" cy="640080"/>
          </a:xfrm>
          <a:prstGeom prst="rect">
            <a:avLst/>
          </a:prstGeom>
          <a:solidFill>
            <a:srgbClr val="2FB36B"/>
          </a:solidFill>
          <a:ln/>
        </p:spPr>
        <p:txBody>
          <a:bodyPr/>
          <a:p/>
        </p:txBody>
      </p:sp>
      <p:sp>
        <p:nvSpPr>
          <p:cNvPr id="122" name="Text 24"/>
          <p:cNvSpPr/>
          <p:nvPr/>
        </p:nvSpPr>
        <p:spPr>
          <a:xfrm>
            <a:off x="978408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:8127</a:t>
            </a:r>
            <a:endParaRPr lang="en-US" sz="2200" dirty="0"/>
          </a:p>
        </p:txBody>
      </p:sp>
      <p:sp>
        <p:nvSpPr>
          <p:cNvPr id="137" name="WMSBox"/>
          <p:cNvSpPr/>
          <p:nvPr/>
        </p:nvSpPr>
        <p:spPr>
          <a:xfrm>
            <a:off x="9784080" y="243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:8128</a:t>
            </a:r>
            <a:endParaRPr lang="en-US" sz="2200" dirty="0"/>
          </a:p>
        </p:txBody>
      </p:sp>
      <p:sp>
        <p:nvSpPr>
          <p:cNvPr id="123" name="Text 25"/>
          <p:cNvSpPr/>
          <p:nvPr/>
        </p:nvSpPr>
        <p:spPr>
          <a:xfrm>
            <a:off x="99669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服务</a:t>
            </a:r>
            <a:endParaRPr lang="en-US" sz="1500" dirty="0"/>
          </a:p>
        </p:txBody>
      </p:sp>
      <p:sp>
        <p:nvSpPr>
          <p:cNvPr id="124" name="Text 26"/>
          <p:cNvSpPr/>
          <p:nvPr/>
        </p:nvSpPr>
        <p:spPr>
          <a:xfrm>
            <a:off x="996696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 + 实时 REST 检索</a:t>
            </a:r>
            <a:endParaRPr lang="en-US" sz="1150" dirty="0"/>
          </a:p>
        </p:txBody>
      </p:sp>
      <p:sp>
        <p:nvSpPr>
          <p:cNvPr id="125" name="Shape 27"/>
          <p:cNvSpPr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p/>
        </p:txBody>
      </p:sp>
      <p:sp>
        <p:nvSpPr>
          <p:cNvPr id="126" name="Shape 28"/>
          <p:cNvSpPr/>
          <p:nvPr/>
        </p:nvSpPr>
        <p:spPr>
          <a:xfrm>
            <a:off x="640080" y="4114800"/>
            <a:ext cx="128016" cy="1828800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p/>
        </p:txBody>
      </p:sp>
      <p:pic>
        <p:nvPicPr>
          <p:cNvPr id="12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379976"/>
            <a:ext cx="347472" cy="347472"/>
          </a:xfrm>
          <a:prstGeom prst="rect">
            <a:avLst/>
          </a:prstGeom>
        </p:spPr>
      </p:pic>
      <p:sp>
        <p:nvSpPr>
          <p:cNvPr id="128" name="Text 29"/>
          <p:cNvSpPr/>
          <p:nvPr/>
        </p:nvSpPr>
        <p:spPr>
          <a:xfrm>
            <a:off x="1481328" y="4343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事件源唯一(:8124)，不得绕开 emitEv</a:t>
            </a:r>
            <a:endParaRPr lang="en-US" sz="1300" dirty="0"/>
          </a:p>
        </p:txBody>
      </p:sp>
      <p:pic>
        <p:nvPicPr>
          <p:cNvPr id="1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379976"/>
            <a:ext cx="347472" cy="347472"/>
          </a:xfrm>
          <a:prstGeom prst="rect">
            <a:avLst/>
          </a:prstGeom>
        </p:spPr>
      </p:pic>
      <p:sp>
        <p:nvSpPr>
          <p:cNvPr id="130" name="Text 30"/>
          <p:cNvSpPr/>
          <p:nvPr/>
        </p:nvSpPr>
        <p:spPr>
          <a:xfrm>
            <a:off x="6876288" y="4343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所有写操作经 eventbus 落库 + 审计；APC→S2F41 回灌、VM→APC、APS→dispatch、Agent 编排均已闭环</a:t>
            </a:r>
            <a:endParaRPr lang="en-US" sz="1300" dirty="0"/>
          </a:p>
        </p:txBody>
      </p:sp>
      <p:pic>
        <p:nvPicPr>
          <p:cNvPr id="1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157216"/>
            <a:ext cx="347472" cy="347472"/>
          </a:xfrm>
          <a:prstGeom prst="rect">
            <a:avLst/>
          </a:prstGeom>
        </p:spPr>
      </p:pic>
      <p:sp>
        <p:nvSpPr>
          <p:cNvPr id="132" name="Text 31"/>
          <p:cNvSpPr/>
          <p:nvPr/>
        </p:nvSpPr>
        <p:spPr>
          <a:xfrm>
            <a:off x="1481328" y="5120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字段只增不删，严格向后兼容</a:t>
            </a:r>
            <a:endParaRPr lang="en-US" sz="1300" dirty="0"/>
          </a:p>
        </p:txBody>
      </p:sp>
      <p:pic>
        <p:nvPicPr>
          <p:cNvPr id="1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157216"/>
            <a:ext cx="347472" cy="347472"/>
          </a:xfrm>
          <a:prstGeom prst="rect">
            <a:avLst/>
          </a:prstGeom>
        </p:spPr>
      </p:pic>
      <p:sp>
        <p:nvSpPr>
          <p:cNvPr id="134" name="Text 32"/>
          <p:cNvSpPr/>
          <p:nvPr/>
        </p:nvSpPr>
        <p:spPr>
          <a:xfrm>
            <a:off x="6876288" y="5120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导师/副驾/自治：提示≠代做，写操作须人审</a:t>
            </a:r>
            <a:endParaRPr lang="en-US" sz="1300" dirty="0"/>
          </a:p>
        </p:txBody>
      </p:sp>
      <p:sp>
        <p:nvSpPr>
          <p:cNvPr id="135" name="Text 3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136" name="Text 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14">
    <p:bg>
      <p:bgPr>
        <a:solidFill>
          <a:srgbClr val="F4F7FB"/>
        </a:solidFill>
      </p:bgPr>
    </p:bg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&amp; SAFETY · 可信与安全</a:t>
            </a:r>
            <a:endParaRPr lang="en-US" sz="1300" dirty="0"/>
          </a:p>
        </p:txBody>
      </p:sp>
      <p:sp>
        <p:nvSpPr>
          <p:cNvPr id="139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合规审计与自治安全铁律</a:t>
            </a:r>
            <a:endParaRPr lang="en-US" sz="3000" dirty="0"/>
          </a:p>
        </p:txBody>
      </p:sp>
      <p:sp>
        <p:nvSpPr>
          <p:cNvPr id="140" name="Shape 2"/>
          <p:cNvSpPr/>
          <p:nvPr/>
        </p:nvSpPr>
        <p:spPr>
          <a:xfrm>
            <a:off x="640080" y="173736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1" name="Shape 3"/>
          <p:cNvSpPr/>
          <p:nvPr/>
        </p:nvSpPr>
        <p:spPr>
          <a:xfrm>
            <a:off x="914400" y="203911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14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34" y="2193646"/>
            <a:ext cx="285293" cy="285293"/>
          </a:xfrm>
          <a:prstGeom prst="rect">
            <a:avLst/>
          </a:prstGeom>
        </p:spPr>
      </p:pic>
      <p:sp>
        <p:nvSpPr>
          <p:cNvPr id="143" name="Text 4"/>
          <p:cNvSpPr/>
          <p:nvPr/>
        </p:nvSpPr>
        <p:spPr>
          <a:xfrm>
            <a:off x="169164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链式审计不可篡改</a:t>
            </a:r>
            <a:endParaRPr lang="en-US" sz="1500" dirty="0"/>
          </a:p>
        </p:txBody>
      </p:sp>
      <p:sp>
        <p:nvSpPr>
          <p:cNvPr id="144" name="Text 5"/>
          <p:cNvSpPr/>
          <p:nvPr/>
        </p:nvSpPr>
        <p:spPr>
          <a:xfrm>
            <a:off x="1691640" y="23042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每条审计 = sha256(prev_hash|ts|actor|action|target|payload)，篡改即断链。</a:t>
            </a:r>
            <a:endParaRPr lang="en-US" sz="1150" dirty="0"/>
          </a:p>
        </p:txBody>
      </p:sp>
      <p:sp>
        <p:nvSpPr>
          <p:cNvPr id="145" name="Shape 6"/>
          <p:cNvSpPr/>
          <p:nvPr/>
        </p:nvSpPr>
        <p:spPr>
          <a:xfrm>
            <a:off x="640080" y="310896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6" name="Shape 7"/>
          <p:cNvSpPr/>
          <p:nvPr/>
        </p:nvSpPr>
        <p:spPr>
          <a:xfrm>
            <a:off x="914400" y="341071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14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3565246"/>
            <a:ext cx="285293" cy="285293"/>
          </a:xfrm>
          <a:prstGeom prst="rect">
            <a:avLst/>
          </a:prstGeom>
        </p:spPr>
      </p:pic>
      <p:sp>
        <p:nvSpPr>
          <p:cNvPr id="148" name="Text 8"/>
          <p:cNvSpPr/>
          <p:nvPr/>
        </p:nvSpPr>
        <p:spPr>
          <a:xfrm>
            <a:off x="1691640" y="32735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 标准映射</a:t>
            </a:r>
            <a:endParaRPr lang="en-US" sz="1500" dirty="0"/>
          </a:p>
        </p:txBody>
      </p:sp>
      <p:sp>
        <p:nvSpPr>
          <p:cNvPr id="149" name="Text 9"/>
          <p:cNvSpPr/>
          <p:nvPr/>
        </p:nvSpPr>
        <p:spPr>
          <a:xfrm>
            <a:off x="1691640" y="36758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E10/E30/E87 事件到 SEMI TRACING 标签，自带规约溯源。</a:t>
            </a:r>
            <a:endParaRPr lang="en-US" sz="1150" dirty="0"/>
          </a:p>
        </p:txBody>
      </p:sp>
      <p:sp>
        <p:nvSpPr>
          <p:cNvPr id="150" name="Shape 10"/>
          <p:cNvSpPr/>
          <p:nvPr/>
        </p:nvSpPr>
        <p:spPr>
          <a:xfrm>
            <a:off x="640080" y="448056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1" name="Shape 11"/>
          <p:cNvSpPr/>
          <p:nvPr/>
        </p:nvSpPr>
        <p:spPr>
          <a:xfrm>
            <a:off x="914400" y="478231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15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4" y="4936846"/>
            <a:ext cx="285293" cy="285293"/>
          </a:xfrm>
          <a:prstGeom prst="rect">
            <a:avLst/>
          </a:prstGeom>
        </p:spPr>
      </p:pic>
      <p:sp>
        <p:nvSpPr>
          <p:cNvPr id="153" name="Text 12"/>
          <p:cNvSpPr/>
          <p:nvPr/>
        </p:nvSpPr>
        <p:spPr>
          <a:xfrm>
            <a:off x="1691640" y="46451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数据驻留隔离</a:t>
            </a:r>
            <a:endParaRPr lang="en-US" sz="1500" dirty="0"/>
          </a:p>
        </p:txBody>
      </p:sp>
      <p:sp>
        <p:nvSpPr>
          <p:cNvPr id="154" name="Text 13"/>
          <p:cNvSpPr/>
          <p:nvPr/>
        </p:nvSpPr>
        <p:spPr>
          <a:xfrm>
            <a:off x="1691640" y="50474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多租户上下文隔离，审计随事件实时增长(验收已落 100+ 条)。</a:t>
            </a:r>
            <a:endParaRPr lang="en-US" sz="1150" dirty="0"/>
          </a:p>
        </p:txBody>
      </p:sp>
      <p:sp>
        <p:nvSpPr>
          <p:cNvPr id="155" name="Shape 14"/>
          <p:cNvSpPr/>
          <p:nvPr/>
        </p:nvSpPr>
        <p:spPr>
          <a:xfrm>
            <a:off x="6309360" y="173736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6" name="Shape 15"/>
          <p:cNvSpPr/>
          <p:nvPr/>
        </p:nvSpPr>
        <p:spPr>
          <a:xfrm>
            <a:off x="6583680" y="203911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15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214" y="2193646"/>
            <a:ext cx="285293" cy="285293"/>
          </a:xfrm>
          <a:prstGeom prst="rect">
            <a:avLst/>
          </a:prstGeom>
        </p:spPr>
      </p:pic>
      <p:sp>
        <p:nvSpPr>
          <p:cNvPr id="158" name="Text 16"/>
          <p:cNvSpPr/>
          <p:nvPr/>
        </p:nvSpPr>
        <p:spPr>
          <a:xfrm>
            <a:off x="736092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白名单护栏</a:t>
            </a:r>
            <a:endParaRPr lang="en-US" sz="1500" dirty="0"/>
          </a:p>
        </p:txBody>
      </p:sp>
      <p:sp>
        <p:nvSpPr>
          <p:cNvPr id="159" name="Text 17"/>
          <p:cNvSpPr/>
          <p:nvPr/>
        </p:nvSpPr>
        <p:spPr>
          <a:xfrm>
            <a:off x="7360920" y="23042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ALLOWED_AUTO_ACTIONS 限定可自动动作，越界一律拦截。</a:t>
            </a:r>
            <a:endParaRPr lang="en-US" sz="1150" dirty="0"/>
          </a:p>
        </p:txBody>
      </p:sp>
      <p:sp>
        <p:nvSpPr>
          <p:cNvPr id="160" name="Shape 18"/>
          <p:cNvSpPr/>
          <p:nvPr/>
        </p:nvSpPr>
        <p:spPr>
          <a:xfrm>
            <a:off x="6309360" y="310896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1" name="Shape 19"/>
          <p:cNvSpPr/>
          <p:nvPr/>
        </p:nvSpPr>
        <p:spPr>
          <a:xfrm>
            <a:off x="6583680" y="341071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16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214" y="3565246"/>
            <a:ext cx="285293" cy="285293"/>
          </a:xfrm>
          <a:prstGeom prst="rect">
            <a:avLst/>
          </a:prstGeom>
        </p:spPr>
      </p:pic>
      <p:sp>
        <p:nvSpPr>
          <p:cNvPr id="163" name="Text 20"/>
          <p:cNvSpPr/>
          <p:nvPr/>
        </p:nvSpPr>
        <p:spPr>
          <a:xfrm>
            <a:off x="7360920" y="32735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人审闭环</a:t>
            </a:r>
            <a:endParaRPr lang="en-US" sz="1500" dirty="0"/>
          </a:p>
          <a:p>
            <a:pPr/>
            <a:r>
              <a:rPr sz="1500">
                <a:solidFill>
                  <a:srgbClr val="0B1F3A"/>
                </a:solidFill>
                <a:latin typeface="Trebuchet MS"/>
              </a:rPr>
              <a:t>门户基础鉴权（P0）：登录页 + 签名会话 cookie，未登录页面跳登录、/api 返回 401、WS 隧道校验。</a:t>
            </a:r>
          </a:p>
        </p:txBody>
      </p:sp>
      <p:sp>
        <p:nvSpPr>
          <p:cNvPr id="164" name="Text 21"/>
          <p:cNvSpPr/>
          <p:nvPr/>
        </p:nvSpPr>
        <p:spPr>
          <a:xfrm>
            <a:off x="7360920" y="36758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requireExplicitConsent 默认 true，写库须显式确认。</a:t>
            </a:r>
            <a:endParaRPr lang="en-US" sz="1150" dirty="0"/>
          </a:p>
        </p:txBody>
      </p:sp>
      <p:sp>
        <p:nvSpPr>
          <p:cNvPr id="165" name="Shape 22"/>
          <p:cNvSpPr/>
          <p:nvPr/>
        </p:nvSpPr>
        <p:spPr>
          <a:xfrm>
            <a:off x="6309360" y="448056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6" name="Shape 23"/>
          <p:cNvSpPr/>
          <p:nvPr/>
        </p:nvSpPr>
        <p:spPr>
          <a:xfrm>
            <a:off x="6583680" y="478231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16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8214" y="4936846"/>
            <a:ext cx="285293" cy="285293"/>
          </a:xfrm>
          <a:prstGeom prst="rect">
            <a:avLst/>
          </a:prstGeom>
        </p:spPr>
      </p:pic>
      <p:sp>
        <p:nvSpPr>
          <p:cNvPr id="168" name="Text 24"/>
          <p:cNvSpPr/>
          <p:nvPr/>
        </p:nvSpPr>
        <p:spPr>
          <a:xfrm>
            <a:off x="7360920" y="46451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APC 执行级闭环已点亮（APC_ENABLED=1）</a:t>
            </a:r>
            <a:endParaRPr lang="en-US" sz="1500" dirty="0"/>
          </a:p>
        </p:txBody>
      </p:sp>
      <p:sp>
        <p:nvSpPr>
          <p:cNvPr id="169" name="Text 25"/>
          <p:cNvSpPr/>
          <p:nvPr/>
        </p:nvSpPr>
        <p:spPr>
          <a:xfrm>
            <a:off x="7360920" y="50474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先进过程控制偏移补偿，仅超死区且开启时经白名单真调。</a:t>
            </a:r>
            <a:endParaRPr lang="en-US" sz="1150" dirty="0"/>
          </a:p>
        </p:txBody>
      </p:sp>
      <p:sp>
        <p:nvSpPr>
          <p:cNvPr id="170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171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17">
    <p:bg>
      <p:bgPr>
        <a:solidFill>
          <a:srgbClr val="0B1F3A"/>
        </a:solidFill>
      </p:bgPr>
    </p:bg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 · 下一步</a:t>
            </a:r>
            <a:endParaRPr lang="en-US" sz="1300" dirty="0"/>
          </a:p>
        </p:txBody>
      </p:sp>
      <p:sp>
        <p:nvSpPr>
          <p:cNvPr id="174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里程碑已达成，下一步三选一</a:t>
            </a:r>
            <a:endParaRPr lang="en-US" sz="2700" dirty="0"/>
          </a:p>
        </p:txBody>
      </p:sp>
      <p:sp>
        <p:nvSpPr>
          <p:cNvPr id="175" name="Shape 2"/>
          <p:cNvSpPr/>
          <p:nvPr/>
        </p:nvSpPr>
        <p:spPr>
          <a:xfrm>
            <a:off x="640080" y="1828800"/>
            <a:ext cx="3520440" cy="2743200"/>
          </a:xfrm>
          <a:prstGeom prst="rect">
            <a:avLst/>
          </a:prstGeom>
          <a:solidFill>
            <a:srgbClr val="11294D"/>
          </a:solidFill>
          <a:ln w="15240">
            <a:solidFill>
              <a:srgbClr val="16B8A6"/>
            </a:solidFill>
            <a:prstDash val="solid"/>
          </a:ln>
        </p:spPr>
        <p:txBody>
          <a:bodyPr/>
          <a:p/>
        </p:txBody>
      </p:sp>
      <p:sp>
        <p:nvSpPr>
          <p:cNvPr id="176" name="Shape 3"/>
          <p:cNvSpPr/>
          <p:nvPr/>
        </p:nvSpPr>
        <p:spPr>
          <a:xfrm>
            <a:off x="1943100" y="219456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17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844" y="2432304"/>
            <a:ext cx="438912" cy="438912"/>
          </a:xfrm>
          <a:prstGeom prst="rect">
            <a:avLst/>
          </a:prstGeom>
        </p:spPr>
      </p:pic>
      <p:sp>
        <p:nvSpPr>
          <p:cNvPr id="178" name="Text 4"/>
          <p:cNvSpPr/>
          <p:nvPr/>
        </p:nvSpPr>
        <p:spPr>
          <a:xfrm>
            <a:off x="822960" y="32461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真实客户试点</a:t>
            </a:r>
            <a:endParaRPr lang="en-US" sz="1700" dirty="0"/>
          </a:p>
        </p:txBody>
      </p:sp>
      <p:sp>
        <p:nvSpPr>
          <p:cNvPr id="179" name="Text 5"/>
          <p:cNvSpPr/>
          <p:nvPr/>
        </p:nvSpPr>
        <p:spPr>
          <a:xfrm>
            <a:off x="914400" y="3749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 1–2 家 AI 芯片厂做 POC，用 demo/通用 适配器对接其系统。</a:t>
            </a:r>
            <a:endParaRPr lang="en-US" sz="1250" dirty="0"/>
          </a:p>
        </p:txBody>
      </p:sp>
      <p:sp>
        <p:nvSpPr>
          <p:cNvPr id="180" name="Shape 6"/>
          <p:cNvSpPr/>
          <p:nvPr/>
        </p:nvSpPr>
        <p:spPr>
          <a:xfrm>
            <a:off x="4526280" y="1828800"/>
            <a:ext cx="3520440" cy="2743200"/>
          </a:xfrm>
          <a:prstGeom prst="rect">
            <a:avLst/>
          </a:prstGeom>
          <a:solidFill>
            <a:srgbClr val="11294D"/>
          </a:solidFill>
          <a:ln w="15240">
            <a:solidFill>
              <a:srgbClr val="F2B544"/>
            </a:solidFill>
            <a:prstDash val="solid"/>
          </a:ln>
        </p:spPr>
        <p:txBody>
          <a:bodyPr/>
          <a:p/>
        </p:txBody>
      </p:sp>
      <p:sp>
        <p:nvSpPr>
          <p:cNvPr id="181" name="Shape 7"/>
          <p:cNvSpPr/>
          <p:nvPr/>
        </p:nvSpPr>
        <p:spPr>
          <a:xfrm>
            <a:off x="5829300" y="219456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18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044" y="2432304"/>
            <a:ext cx="438912" cy="438912"/>
          </a:xfrm>
          <a:prstGeom prst="rect">
            <a:avLst/>
          </a:prstGeom>
        </p:spPr>
      </p:pic>
      <p:sp>
        <p:nvSpPr>
          <p:cNvPr id="183" name="Text 8"/>
          <p:cNvSpPr/>
          <p:nvPr/>
        </p:nvSpPr>
        <p:spPr>
          <a:xfrm>
            <a:off x="4709160" y="32461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市场发布</a:t>
            </a:r>
            <a:endParaRPr lang="en-US" sz="1700" dirty="0"/>
          </a:p>
        </p:txBody>
      </p:sp>
      <p:sp>
        <p:nvSpPr>
          <p:cNvPr id="184" name="Text 9"/>
          <p:cNvSpPr/>
          <p:nvPr/>
        </p:nvSpPr>
        <p:spPr>
          <a:xfrm>
            <a:off x="4800600" y="3749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开源社区版与教学版上架，沉淀案例与课程，构建开发者生态。</a:t>
            </a:r>
            <a:endParaRPr lang="en-US" sz="1250" dirty="0"/>
          </a:p>
        </p:txBody>
      </p:sp>
      <p:sp>
        <p:nvSpPr>
          <p:cNvPr id="185" name="Shape 10"/>
          <p:cNvSpPr/>
          <p:nvPr/>
        </p:nvSpPr>
        <p:spPr>
          <a:xfrm>
            <a:off x="8412480" y="1828800"/>
            <a:ext cx="3520440" cy="2743200"/>
          </a:xfrm>
          <a:prstGeom prst="rect">
            <a:avLst/>
          </a:prstGeom>
          <a:solidFill>
            <a:srgbClr val="11294D"/>
          </a:solidFill>
          <a:ln w="15240">
            <a:solidFill>
              <a:srgbClr val="2E6FD6"/>
            </a:solidFill>
            <a:prstDash val="solid"/>
          </a:ln>
        </p:spPr>
        <p:txBody>
          <a:bodyPr/>
          <a:p/>
        </p:txBody>
      </p:sp>
      <p:sp>
        <p:nvSpPr>
          <p:cNvPr id="186" name="Shape 11"/>
          <p:cNvSpPr/>
          <p:nvPr/>
        </p:nvSpPr>
        <p:spPr>
          <a:xfrm>
            <a:off x="9715500" y="219456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p/>
        </p:txBody>
      </p:sp>
      <p:pic>
        <p:nvPicPr>
          <p:cNvPr id="18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244" y="2432304"/>
            <a:ext cx="438912" cy="438912"/>
          </a:xfrm>
          <a:prstGeom prst="rect">
            <a:avLst/>
          </a:prstGeom>
        </p:spPr>
      </p:pic>
      <p:sp>
        <p:nvSpPr>
          <p:cNvPr id="188" name="Text 12"/>
          <p:cNvSpPr/>
          <p:nvPr/>
        </p:nvSpPr>
        <p:spPr>
          <a:xfrm>
            <a:off x="8595360" y="32461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引擎深度迭代</a:t>
            </a:r>
            <a:endParaRPr lang="en-US" sz="1700" dirty="0"/>
          </a:p>
        </p:txBody>
      </p:sp>
      <p:sp>
        <p:nvSpPr>
          <p:cNvPr id="189" name="Text 13"/>
          <p:cNvSpPr/>
          <p:nvPr/>
        </p:nvSpPr>
        <p:spPr>
          <a:xfrm>
            <a:off x="8686800" y="3749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改瞬时占用率口径、引入时序库、增强 APC 与 RUL 模型精度。</a:t>
            </a:r>
            <a:endParaRPr lang="en-US" sz="1250" dirty="0"/>
          </a:p>
        </p:txBody>
      </p:sp>
      <p:sp>
        <p:nvSpPr>
          <p:cNvPr id="190" name="Text 14"/>
          <p:cNvSpPr/>
          <p:nvPr/>
        </p:nvSpPr>
        <p:spPr>
          <a:xfrm>
            <a:off x="640080" y="4937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四级路线核心能力已全部落地，六进程（门户/MES/EAP/ERP/WMS/Agent）常驻运行，功能零退化——平台已具备产品化运营基础。L4 多租户/真实协议适配（OPC-UA/EDA/ISA-95）为蓝图态（默认关），按需开启；APC 执行级闭环已于 P1 点亮（APC_ENABLED=1，经 S2F41 回灌设备），非蓝图态。</a:t>
            </a:r>
            <a:endParaRPr lang="en-US" sz="1300" dirty="0"/>
          </a:p>
        </p:txBody>
      </p:sp>
      <p:sp>
        <p:nvSpPr>
          <p:cNvPr id="191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晶圆厂AI原生的智能制造平台</a:t>
            </a:r>
            <a:endParaRPr lang="en-US" sz="900" dirty="0"/>
          </a:p>
        </p:txBody>
      </p:sp>
      <p:sp>
        <p:nvSpPr>
          <p:cNvPr id="192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6B8A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7282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92608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晶圆厂AI原生的智能制造平台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AI Agent 为核心，让每一座晶圆厂都拥有智能企业的大脑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9377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社区级 · 教学级 · 专业级 · 工厂级  |  谢谢观看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" name=""/>
          <p:cNvSpPr/>
          <p:nvPr/>
        </p:nvSpPr>
        <p:spPr>
          <a:xfrm>
            <a:off x="635000" y="406400"/>
            <a:ext cx="10058400" cy="317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16B8A6"/>
                </a:solidFill>
                <a:latin typeface="Trebuchet MS"/>
                <a:ea typeface="Trebuchet MS"/>
              </a:rPr>
              <a:t>LDA 有机衔接 · 设计到流片自动触发</a:t>
            </a:r>
            <a:endParaRPr/>
          </a:p>
        </p:txBody>
      </p:sp>
      <p:sp>
        <p:nvSpPr>
          <p:cNvPr id="41" name=""/>
          <p:cNvSpPr/>
          <p:nvPr/>
        </p:nvSpPr>
        <p:spPr>
          <a:xfrm>
            <a:off x="635000" y="7112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>
                <a:solidFill>
                  <a:srgbClr val="0B1F3A"/>
                </a:solidFill>
                <a:latin typeface="Trebuchet MS"/>
                <a:ea typeface="Trebuchet MS"/>
              </a:rPr>
              <a:t>同机 LDA 设计就绪，即自动触发 fab-mes NPI 流片</a:t>
            </a:r>
            <a:endParaRPr/>
          </a:p>
        </p:txBody>
      </p:sp>
      <p:sp>
        <p:nvSpPr>
          <p:cNvPr id="42" name=""/>
          <p:cNvSpPr/>
          <p:nvPr/>
        </p:nvSpPr>
        <p:spPr>
          <a:xfrm>
            <a:off x="6604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2E6FD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① LDA 设计系统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lda.weomnitech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光子·量子芯片设计</a:t>
            </a:r>
            <a:endParaRPr/>
          </a:p>
        </p:txBody>
      </p:sp>
      <p:sp>
        <p:nvSpPr>
          <p:cNvPr id="43" name=""/>
          <p:cNvSpPr/>
          <p:nvPr/>
        </p:nvSpPr>
        <p:spPr>
          <a:xfrm>
            <a:off x="22352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16B8A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② 设计就绪交付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package.ready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verification 验证门</a:t>
            </a:r>
            <a:endParaRPr/>
          </a:p>
        </p:txBody>
      </p:sp>
      <p:sp>
        <p:nvSpPr>
          <p:cNvPr id="44" name=""/>
          <p:cNvSpPr/>
          <p:nvPr/>
        </p:nvSpPr>
        <p:spPr>
          <a:xfrm>
            <a:off x="38100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16B8A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③ 常驻看门狗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每 20s 轮询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自动触发 NPI</a:t>
            </a:r>
            <a:endParaRPr/>
          </a:p>
        </p:txBody>
      </p:sp>
      <p:sp>
        <p:nvSpPr>
          <p:cNvPr id="45" name=""/>
          <p:cNvSpPr/>
          <p:nvPr/>
        </p:nvSpPr>
        <p:spPr>
          <a:xfrm>
            <a:off x="53848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F2B544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④ 设计档案+光罩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fab-mes 落库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layers→passes 派生</a:t>
            </a:r>
            <a:endParaRPr/>
          </a:p>
        </p:txBody>
      </p:sp>
      <p:sp>
        <p:nvSpPr>
          <p:cNvPr id="46" name=""/>
          <p:cNvSpPr/>
          <p:nvPr/>
        </p:nvSpPr>
        <p:spPr>
          <a:xfrm>
            <a:off x="69596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2E6FD6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⑤ NPI 流片批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WO + tapeout</a:t>
            </a:r>
            <a:endParaRPr/>
          </a:p>
          <a:p>
            <a:r>
              <a:t>主轴 WIP 流转</a:t>
            </a:r>
          </a:p>
        </p:txBody>
      </p:sp>
      <p:sp>
        <p:nvSpPr>
          <p:cNvPr id="47" name=""/>
          <p:cNvSpPr/>
          <p:nvPr/>
        </p:nvSpPr>
        <p:spPr>
          <a:xfrm>
            <a:off x="85344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F2B544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⑥ 严格幂等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lda_sync 去重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重启不重复</a:t>
            </a:r>
            <a:endParaRPr/>
          </a:p>
        </p:txBody>
      </p:sp>
      <p:sp>
        <p:nvSpPr>
          <p:cNvPr id="48" name=""/>
          <p:cNvSpPr/>
          <p:nvPr/>
        </p:nvSpPr>
        <p:spPr>
          <a:xfrm>
            <a:off x="10109200" y="2159000"/>
            <a:ext cx="1422400" cy="1168400"/>
          </a:xfrm>
          <a:prstGeom prst="rect">
            <a:avLst/>
          </a:prstGeom>
          <a:solidFill>
            <a:srgbClr val="11294D"/>
          </a:solidFill>
          <a:ln w="19050">
            <a:solidFill>
              <a:srgbClr val="E5573E"/>
            </a:solidFill>
            <a:prstDash val="solid"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⑦ 自主可控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不绑定 EDA</a:t>
            </a:r>
            <a:endParaRPr/>
          </a:p>
          <a:p>
            <a:pPr/>
            <a:r>
              <a:rPr lang="zh-CN" sz="1100">
                <a:solidFill>
                  <a:srgbClr val="FFFFFF"/>
                </a:solidFill>
                <a:latin typeface="Calibri"/>
                <a:ea typeface="Calibri"/>
              </a:rPr>
              <a:t>主线向上游延伸</a:t>
            </a:r>
            <a:endParaRPr/>
          </a:p>
        </p:txBody>
      </p:sp>
      <p:sp>
        <p:nvSpPr>
          <p:cNvPr id="49" name=""/>
          <p:cNvSpPr/>
          <p:nvPr/>
        </p:nvSpPr>
        <p:spPr>
          <a:xfrm>
            <a:off x="660400" y="3962400"/>
            <a:ext cx="108712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B1F3A"/>
                </a:solidFill>
                <a:latin typeface="Calibri"/>
                <a:ea typeface="Calibri"/>
              </a:rPr>
              <a:t>↑ 50 个已验证 LDA 设计自动接入，生成 WO/tapeout lot 在 MES 主轴 WIP 流转，重复扫描 0 新建、0 漏网。</a:t>
            </a:r>
            <a:endParaRPr/>
          </a:p>
        </p:txBody>
      </p:sp>
      <p:sp>
        <p:nvSpPr>
          <p:cNvPr id="50" name=""/>
          <p:cNvSpPr/>
          <p:nvPr/>
        </p:nvSpPr>
        <p:spPr>
          <a:xfrm>
            <a:off x="660400" y="4419600"/>
            <a:ext cx="10871200" cy="736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B6B7E"/>
                </a:solidFill>
                <a:latin typeface="Calibri"/>
                <a:ea typeface="Calibri"/>
              </a:rPr>
              <a:t>fab-mes 反向成为 LDA 设计的下游「可制造性/验证」证明；不绑定任何第三方商业 EDA/设计套装。</a:t>
            </a:r>
            <a:endParaRPr/>
          </a:p>
        </p:txBody>
      </p:sp>
      <p:sp>
        <p:nvSpPr>
          <p:cNvPr id="51" name=""/>
          <p:cNvSpPr/>
          <p:nvPr/>
        </p:nvSpPr>
        <p:spPr>
          <a:xfrm>
            <a:off x="660400" y="3784600"/>
            <a:ext cx="10871200" cy="101600"/>
          </a:xfrm>
          <a:prstGeom prst="rect">
            <a:avLst/>
          </a:prstGeom>
          <a:solidFill>
            <a:srgbClr val="16B8A6"/>
          </a:solidFill>
          <a:ln>
            <a:noFill/>
          </a:ln>
        </p:spPr>
        <p:txBody>
          <a:bodyPr/>
          <a:p/>
        </p:txBody>
      </p:sp>
      <p:sp>
        <p:nvSpPr>
          <p:cNvPr id="52" name=""/>
          <p:cNvSpPr/>
          <p:nvPr/>
        </p:nvSpPr>
        <p:spPr>
          <a:xfrm>
            <a:off x="20828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"/>
          <p:cNvSpPr/>
          <p:nvPr/>
        </p:nvSpPr>
        <p:spPr>
          <a:xfrm>
            <a:off x="36576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"/>
          <p:cNvSpPr/>
          <p:nvPr/>
        </p:nvSpPr>
        <p:spPr>
          <a:xfrm>
            <a:off x="52324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>
            <a:off x="68072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"/>
          <p:cNvSpPr/>
          <p:nvPr/>
        </p:nvSpPr>
        <p:spPr>
          <a:xfrm>
            <a:off x="83820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7" name=""/>
          <p:cNvSpPr/>
          <p:nvPr/>
        </p:nvSpPr>
        <p:spPr>
          <a:xfrm>
            <a:off x="9956800" y="2743200"/>
            <a:ext cx="152400" cy="0"/>
          </a:xfrm>
          <a:prstGeom prst="line">
            <a:avLst/>
          </a:prstGeom>
          <a:noFill/>
          <a:ln w="25400">
            <a:solidFill>
              <a:srgbClr val="16B8A6"/>
            </a:solidFill>
            <a:prstDash val="solid"/>
            <a:tailEnd type="triangle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xmlns:thm15="http://schemas.microsoft.com/office/thememl/2012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2026-08-28T11:49:08Z</dcterms:created>
  <dcterms:modified xsi:type="dcterms:W3CDTF">2026-08-28T11:49:08Z</dcterms:modified>
</cp:coreProperties>
</file>